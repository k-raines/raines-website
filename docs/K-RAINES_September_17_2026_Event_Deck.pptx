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9465E-5E7C-4093-B03B-2A44C4C745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265E9-9582-4BF7-B35E-F2734F6F3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5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guests, recognize KEIT and TIPA, and thank the Korean Consulate for providing the venue. Keep this acknowledgment warm and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88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thematic recap because final Skills-thon metrics were not included in the source summary. Replace these themes with concrete outcomes or photos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24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by telling participants that the results are a conversation starter, not a scorecard. Replace N and all placeholders before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5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 for one quick show of hands: where did AI change the process itself, not only make an existing task faster?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03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Invite two contrasting interpretations: one from an aggressive user and one from a cost-conscious user. Use an anonymized Q7-1 response only with appropriate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8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bridge from survey evidence to the featured talk: the room wants practical patterns, and the next sessions provide concrete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03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Prof. Taskin Padir and Northeastern University. Confirm the final talk title with the speaker and replace the thematic lines if a finalized abstract is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90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Populate from Questions 10-15. Keep this aggregated: do not create one slide per participant. After this summary, advance through each speaker deck or demo in the confirmed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60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Lightning Talk block. Remind speakers of the agreed time limit and tell the audience when questions will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05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the formal program, thank speakers and partners once more, announce dinner logistics, and explicitly invite networking to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265E9-9582-4BF7-B35E-F2734F6F31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9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C838-7D91-E1B6-811B-FF8198C81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F97F4-6D09-53FC-CB0F-B169B8CA0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745AC-8D4D-7BB5-2A2D-55C08D1B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E2B3-EFAC-72C4-9976-7067B7A7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75DB1-E979-13C4-858F-6A07D100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C346-A79E-D499-E4E0-2F62C059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5D794-4012-CD7C-059F-4A2B4A938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EC57-F381-1B7E-B573-0DBAA0D1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C451-0328-786C-A13F-9CBC455D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75BFD-3A47-957F-040F-91B1140E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4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062A-ECD1-D5F7-D448-23D97B85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0D7C-82A6-DE98-961B-FE72B17E1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5CAF5-5D63-FC41-7D40-2CD51F4E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E5D93-B3E3-1F9A-FCB1-1FC537EE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28EC-4AC9-B899-7D6F-BABB55231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16D7-4E7F-8C89-EAD6-2C0940CE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D682A-6624-16B5-9936-C7E42D814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6CD54-1E55-0D36-CB9D-EB1BB68F6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2E5D1-3EE7-00BB-0651-1BD65940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273FF-7E48-E509-E4FF-0E7644C3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2E9B7-D221-D00F-F533-CD135448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6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B101-51EB-03BE-A771-EB2866CF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BF394-E78C-DB51-745A-5B57326D5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85C99-ABA0-397E-3EE8-8BA8DA88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4C59B-F9FE-06E7-18CF-2728C8B93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2E67C-5307-6F0E-B894-067AF1FAD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2DC9B-FC25-069E-7266-7A1AB921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A4833-4E95-E91D-3A38-5D9F2946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E8E82-E5FA-87A4-4C3C-9B59D750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6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32B5-2D12-778F-6AFD-B8FC7390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1FCD5-DB18-307A-ADD0-A6C93840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E0179-2C4E-9639-9D58-EAB4113C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202EE-CC69-CB41-6559-750FC670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0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A813C-FEAA-1C48-6A8F-A3BE1AA9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646E6-31CA-9922-4492-6A2B3FCC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C47E9-BAB5-ED1B-60DD-B7DA4A6D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5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7419-ECAD-0DDF-6644-3C3BBF27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31F2D-2DF3-17A2-973B-20A75B5A4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3FCA7-73F9-3D0B-92C8-C876CFA52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61073-736B-70DA-F0ED-8FBD86F4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E2BB9-3EAE-0B69-F63C-05A20C64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8C7CF-D622-0FF2-962C-71BD7FB9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6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BD38-EA10-DF81-8865-CF91D383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94CBB-687D-CEF7-C12F-5BB720EE8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C0CEE-A011-F93E-CD7B-4E25824E3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F035D-9806-019E-95F5-CF81C2CE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05808-F611-4CF9-A889-11E6F7E9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CD02F-13E5-6CFE-094B-6A0646D9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7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CFB7-2076-8033-50B2-DDFDA6B3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8071C-3406-BE37-A4DE-1CDBC1957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9DB59-D873-3B05-1159-155FDE41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6EB5-0276-BE07-43AB-5D6C392C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CE82-9F82-7DE0-4784-45BE0967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2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68F29-5FA4-5505-F187-DC03BAD8E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30202-68D1-093C-B4E8-739CB1277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CDF4E-A4F9-8F13-DAFA-B517BAE5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00B9-02D8-8C36-73C8-7E7A2EAA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1111-C082-8AFD-CD69-A6BA1C88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6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570C5-B75C-9331-27D3-63D969CB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6C9EE-7E3F-20FF-C6F2-B06613864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73F18-CC82-530A-4990-500A727DC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1D73B-7916-4AE5-9FE8-A0F710D4526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6C5AE-8024-87DD-0CB4-2B1A81FF4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25B87-B1C6-E4A9-71E7-727D7D351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91334-00BB-4B59-A8C5-A20C600B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58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9B943F-CDBC-414A-F7E1-3FB65B2D1EE2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192B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BC3FF6-3777-31CD-CC02-E8D210FA09DC}"/>
              </a:ext>
            </a:extLst>
          </p:cNvPr>
          <p:cNvSpPr/>
          <p:nvPr/>
        </p:nvSpPr>
        <p:spPr>
          <a:xfrm>
            <a:off x="7747000" y="4368800"/>
            <a:ext cx="4445000" cy="2489200"/>
          </a:xfrm>
          <a:prstGeom prst="rect">
            <a:avLst/>
          </a:prstGeom>
          <a:solidFill>
            <a:srgbClr val="3D8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DB4FD-A805-1B54-A25E-C702D646024E}"/>
              </a:ext>
            </a:extLst>
          </p:cNvPr>
          <p:cNvSpPr txBox="1"/>
          <p:nvPr/>
        </p:nvSpPr>
        <p:spPr>
          <a:xfrm>
            <a:off x="685800" y="584200"/>
            <a:ext cx="609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666666"/>
                </a:solidFill>
                <a:latin typeface="Aptos" panose="020B0004020202020204" pitchFamily="34" charset="0"/>
              </a:rPr>
              <a:t>K-RAINES COMMUNITY EVENT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53C9D-44BC-6C79-695C-3FB5078146E6}"/>
              </a:ext>
            </a:extLst>
          </p:cNvPr>
          <p:cNvSpPr txBox="1"/>
          <p:nvPr/>
        </p:nvSpPr>
        <p:spPr>
          <a:xfrm>
            <a:off x="685800" y="1689100"/>
            <a:ext cx="6350000" cy="6617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300" b="1">
                <a:solidFill>
                  <a:srgbClr val="171717"/>
                </a:solidFill>
                <a:latin typeface="Aptos" panose="020B0004020202020204" pitchFamily="34" charset="0"/>
              </a:rPr>
              <a:t>From Prompt to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B8C6E-B1EB-80E7-C2B4-F8B288F9FBE9}"/>
              </a:ext>
            </a:extLst>
          </p:cNvPr>
          <p:cNvSpPr txBox="1"/>
          <p:nvPr/>
        </p:nvSpPr>
        <p:spPr>
          <a:xfrm>
            <a:off x="685800" y="3378200"/>
            <a:ext cx="5969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>
                <a:solidFill>
                  <a:srgbClr val="666666"/>
                </a:solidFill>
                <a:latin typeface="Aptos" panose="020B0004020202020204" pitchFamily="34" charset="0"/>
              </a:rPr>
              <a:t>How Our Community Works with AI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FA0CD-238D-8236-036F-358943584722}"/>
              </a:ext>
            </a:extLst>
          </p:cNvPr>
          <p:cNvSpPr txBox="1"/>
          <p:nvPr/>
        </p:nvSpPr>
        <p:spPr>
          <a:xfrm>
            <a:off x="685800" y="5118100"/>
            <a:ext cx="622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71717"/>
                </a:solidFill>
                <a:latin typeface="Aptos" panose="020B0004020202020204" pitchFamily="34" charset="0"/>
              </a:rPr>
              <a:t>September 17, 2026  |  6:00 PM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0C74D-78DD-AB86-0139-DAEAB88EEBAF}"/>
              </a:ext>
            </a:extLst>
          </p:cNvPr>
          <p:cNvSpPr txBox="1"/>
          <p:nvPr/>
        </p:nvSpPr>
        <p:spPr>
          <a:xfrm>
            <a:off x="685800" y="5562600"/>
            <a:ext cx="635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66666"/>
                </a:solidFill>
                <a:latin typeface="Aptos" panose="020B0004020202020204" pitchFamily="34" charset="0"/>
              </a:rPr>
              <a:t>Consulate General of the Republic of Korea in Boston</a:t>
            </a:r>
          </a:p>
          <a:p>
            <a:r>
              <a:rPr lang="en-US" sz="1500">
                <a:solidFill>
                  <a:srgbClr val="666666"/>
                </a:solidFill>
                <a:latin typeface="Aptos" panose="020B0004020202020204" pitchFamily="34" charset="0"/>
              </a:rPr>
              <a:t>Newton, Massachusetts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FE79F-0269-D609-1BA5-849494DC3DBC}"/>
              </a:ext>
            </a:extLst>
          </p:cNvPr>
          <p:cNvSpPr txBox="1"/>
          <p:nvPr/>
        </p:nvSpPr>
        <p:spPr>
          <a:xfrm>
            <a:off x="8305800" y="1016000"/>
            <a:ext cx="3175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" panose="020B0004020202020204" pitchFamily="34" charset="0"/>
              </a:rPr>
              <a:t>PRACTICAL</a:t>
            </a:r>
          </a:p>
          <a:p>
            <a:r>
              <a:rPr lang="en-US" sz="2600" b="1">
                <a:solidFill>
                  <a:srgbClr val="FFFFFF"/>
                </a:solidFill>
                <a:latin typeface="Aptos" panose="020B0004020202020204" pitchFamily="34" charset="0"/>
              </a:rPr>
              <a:t>AI 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19B67-6D14-50C2-007D-3029AF657791}"/>
              </a:ext>
            </a:extLst>
          </p:cNvPr>
          <p:cNvSpPr txBox="1"/>
          <p:nvPr/>
        </p:nvSpPr>
        <p:spPr>
          <a:xfrm>
            <a:off x="8305800" y="4737100"/>
            <a:ext cx="3175000" cy="8771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192B44"/>
                </a:solidFill>
                <a:latin typeface="Aptos" panose="020B0004020202020204" pitchFamily="34" charset="0"/>
              </a:rPr>
              <a:t>Share what works.</a:t>
            </a:r>
          </a:p>
          <a:p>
            <a:r>
              <a:rPr lang="en-US" sz="1900" b="1">
                <a:solidFill>
                  <a:srgbClr val="192B44"/>
                </a:solidFill>
                <a:latin typeface="Aptos" panose="020B0004020202020204" pitchFamily="34" charset="0"/>
              </a:rPr>
              <a:t>Learn from what did not.</a:t>
            </a:r>
          </a:p>
          <a:p>
            <a:r>
              <a:rPr lang="en-US" sz="1900" b="1">
                <a:solidFill>
                  <a:srgbClr val="192B44"/>
                </a:solidFill>
                <a:latin typeface="Aptos" panose="020B0004020202020204" pitchFamily="34" charset="0"/>
              </a:rPr>
              <a:t>Build the next workflow.</a:t>
            </a:r>
          </a:p>
        </p:txBody>
      </p:sp>
    </p:spTree>
    <p:extLst>
      <p:ext uri="{BB962C8B-B14F-4D97-AF65-F5344CB8AC3E}">
        <p14:creationId xmlns:p14="http://schemas.microsoft.com/office/powerpoint/2010/main" val="247562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AFF856-A0CE-2918-480C-0C4D308AEE1E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K-RAINES  |  SEPTEMBER 17,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7D63B-50D2-D839-D7A6-A62D4529FB66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This evening is possible because of our partners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7DB26-7E8E-24A8-2433-E349DC786BCC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F6E45-9F59-BE61-1105-BD2166E435E6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59D5C-9E77-8824-DF01-310593E3EF6D}"/>
              </a:ext>
            </a:extLst>
          </p:cNvPr>
          <p:cNvSpPr txBox="1"/>
          <p:nvPr/>
        </p:nvSpPr>
        <p:spPr>
          <a:xfrm>
            <a:off x="685800" y="2032000"/>
            <a:ext cx="342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92B44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A2389-D5CF-EB84-353D-D29D8B60E612}"/>
              </a:ext>
            </a:extLst>
          </p:cNvPr>
          <p:cNvSpPr txBox="1"/>
          <p:nvPr/>
        </p:nvSpPr>
        <p:spPr>
          <a:xfrm>
            <a:off x="685800" y="2730500"/>
            <a:ext cx="4064000" cy="116955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>
                <a:solidFill>
                  <a:srgbClr val="666666"/>
                </a:solidFill>
                <a:latin typeface="Aptos" panose="020B0004020202020204" pitchFamily="34" charset="0"/>
              </a:rPr>
              <a:t>for sustaining a community where researchers, professionals, and builders can exchange practical knowledge.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EA545-822C-8F59-A8BF-503A3E1AC9C7}"/>
              </a:ext>
            </a:extLst>
          </p:cNvPr>
          <p:cNvSpPr/>
          <p:nvPr/>
        </p:nvSpPr>
        <p:spPr>
          <a:xfrm>
            <a:off x="5461000" y="2032000"/>
            <a:ext cx="2794000" cy="2413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9E404-7EF8-4A46-784D-29B06DF8A752}"/>
              </a:ext>
            </a:extLst>
          </p:cNvPr>
          <p:cNvSpPr txBox="1"/>
          <p:nvPr/>
        </p:nvSpPr>
        <p:spPr>
          <a:xfrm>
            <a:off x="5461000" y="2730500"/>
            <a:ext cx="2794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3300" b="1">
                <a:solidFill>
                  <a:srgbClr val="171717"/>
                </a:solidFill>
                <a:latin typeface="Aptos" panose="020B0004020202020204" pitchFamily="34" charset="0"/>
              </a:rPr>
              <a:t>KEIT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F63EA-CDCC-716F-F575-E84EEA07A86D}"/>
              </a:ext>
            </a:extLst>
          </p:cNvPr>
          <p:cNvSpPr txBox="1"/>
          <p:nvPr/>
        </p:nvSpPr>
        <p:spPr>
          <a:xfrm>
            <a:off x="5461000" y="35814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Sponsor institution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BB5D2-4649-2608-83B8-E81004AB5991}"/>
              </a:ext>
            </a:extLst>
          </p:cNvPr>
          <p:cNvSpPr/>
          <p:nvPr/>
        </p:nvSpPr>
        <p:spPr>
          <a:xfrm>
            <a:off x="8559800" y="2032000"/>
            <a:ext cx="2794000" cy="2413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6E16C-D778-DB79-F4CF-621D1CCD1A4B}"/>
              </a:ext>
            </a:extLst>
          </p:cNvPr>
          <p:cNvSpPr txBox="1"/>
          <p:nvPr/>
        </p:nvSpPr>
        <p:spPr>
          <a:xfrm>
            <a:off x="8559800" y="2730500"/>
            <a:ext cx="2794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3300" b="1">
                <a:solidFill>
                  <a:srgbClr val="192B44"/>
                </a:solidFill>
                <a:latin typeface="Aptos" panose="020B0004020202020204" pitchFamily="34" charset="0"/>
              </a:rPr>
              <a:t>TIPA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4C44B-9D4A-5424-F80E-EDBE799FB9B4}"/>
              </a:ext>
            </a:extLst>
          </p:cNvPr>
          <p:cNvSpPr txBox="1"/>
          <p:nvPr/>
        </p:nvSpPr>
        <p:spPr>
          <a:xfrm>
            <a:off x="8559800" y="35814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Sponsor institution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389A3-F3A0-C7D1-162E-55A75DD8AEA6}"/>
              </a:ext>
            </a:extLst>
          </p:cNvPr>
          <p:cNvSpPr txBox="1"/>
          <p:nvPr/>
        </p:nvSpPr>
        <p:spPr>
          <a:xfrm>
            <a:off x="5461000" y="4851400"/>
            <a:ext cx="5892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71717"/>
                </a:solidFill>
                <a:latin typeface="Aptos" panose="020B0004020202020204" pitchFamily="34" charset="0"/>
              </a:rPr>
              <a:t>With appreciation to the Korean Consulate for hosting our community.</a:t>
            </a:r>
          </a:p>
        </p:txBody>
      </p:sp>
    </p:spTree>
    <p:extLst>
      <p:ext uri="{BB962C8B-B14F-4D97-AF65-F5344CB8AC3E}">
        <p14:creationId xmlns:p14="http://schemas.microsoft.com/office/powerpoint/2010/main" val="3577538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7A257-7005-90FF-1DAD-2602D1CA40BD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K-RAINES  |  SEPTEMBER 17,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A7A24-89EC-CBB2-9863-A957F1E703AD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The 2026 Skills-thon moved us from ideas to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59A2A-FC3D-F1BE-18DC-040C9A256AD8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6D69B-CC09-E884-887E-781356365467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52B93-7AD8-5308-69BE-6E7E88B5F8EC}"/>
              </a:ext>
            </a:extLst>
          </p:cNvPr>
          <p:cNvSpPr txBox="1"/>
          <p:nvPr/>
        </p:nvSpPr>
        <p:spPr>
          <a:xfrm>
            <a:off x="685800" y="2082800"/>
            <a:ext cx="45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E6D67-181A-9C09-4EE1-995564B812B8}"/>
              </a:ext>
            </a:extLst>
          </p:cNvPr>
          <p:cNvSpPr txBox="1"/>
          <p:nvPr/>
        </p:nvSpPr>
        <p:spPr>
          <a:xfrm>
            <a:off x="685800" y="2590800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171717"/>
                </a:solidFill>
                <a:latin typeface="Aptos" panose="020B0004020202020204" pitchFamily="34" charset="0"/>
              </a:rPr>
              <a:t>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22BBB-03DE-6796-701F-AC3DAB614F41}"/>
              </a:ext>
            </a:extLst>
          </p:cNvPr>
          <p:cNvSpPr txBox="1"/>
          <p:nvPr/>
        </p:nvSpPr>
        <p:spPr>
          <a:xfrm>
            <a:off x="685800" y="3251200"/>
            <a:ext cx="31115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666666"/>
                </a:solidFill>
                <a:latin typeface="Aptos" panose="020B0004020202020204" pitchFamily="34" charset="0"/>
              </a:rPr>
              <a:t>Turn a recurring task into a repeatable AI-assisted workflow.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AA578-475A-B120-9EF5-CF63A192EEF1}"/>
              </a:ext>
            </a:extLst>
          </p:cNvPr>
          <p:cNvSpPr txBox="1"/>
          <p:nvPr/>
        </p:nvSpPr>
        <p:spPr>
          <a:xfrm>
            <a:off x="4292600" y="2082800"/>
            <a:ext cx="45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A3F1E-06E6-8046-79B5-1BBEB4C9462D}"/>
              </a:ext>
            </a:extLst>
          </p:cNvPr>
          <p:cNvSpPr txBox="1"/>
          <p:nvPr/>
        </p:nvSpPr>
        <p:spPr>
          <a:xfrm>
            <a:off x="4292600" y="2590800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171717"/>
                </a:solidFill>
                <a:latin typeface="Aptos" panose="020B0004020202020204" pitchFamily="34" charset="0"/>
              </a:rPr>
              <a:t>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3978AE-E54F-74AC-8444-5CFAB9C5EC9B}"/>
              </a:ext>
            </a:extLst>
          </p:cNvPr>
          <p:cNvSpPr txBox="1"/>
          <p:nvPr/>
        </p:nvSpPr>
        <p:spPr>
          <a:xfrm>
            <a:off x="4292600" y="3251200"/>
            <a:ext cx="31115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666666"/>
                </a:solidFill>
                <a:latin typeface="Aptos" panose="020B0004020202020204" pitchFamily="34" charset="0"/>
              </a:rPr>
              <a:t>Compare outputs, costs, and failure modes—not just demos.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CF960-52D0-0F90-E07B-16C65A8AA133}"/>
              </a:ext>
            </a:extLst>
          </p:cNvPr>
          <p:cNvSpPr txBox="1"/>
          <p:nvPr/>
        </p:nvSpPr>
        <p:spPr>
          <a:xfrm>
            <a:off x="7899400" y="2082800"/>
            <a:ext cx="45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ECE55-318B-8D7D-F724-E4D6FAC10013}"/>
              </a:ext>
            </a:extLst>
          </p:cNvPr>
          <p:cNvSpPr txBox="1"/>
          <p:nvPr/>
        </p:nvSpPr>
        <p:spPr>
          <a:xfrm>
            <a:off x="7899400" y="2590800"/>
            <a:ext cx="3111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171717"/>
                </a:solidFill>
                <a:latin typeface="Aptos" panose="020B0004020202020204" pitchFamily="34" charset="0"/>
              </a:rPr>
              <a:t>SHARE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FC6BA-104D-67DE-0010-6EC9D2067C30}"/>
              </a:ext>
            </a:extLst>
          </p:cNvPr>
          <p:cNvSpPr txBox="1"/>
          <p:nvPr/>
        </p:nvSpPr>
        <p:spPr>
          <a:xfrm>
            <a:off x="7899400" y="3251200"/>
            <a:ext cx="31115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666666"/>
                </a:solidFill>
                <a:latin typeface="Aptos" panose="020B0004020202020204" pitchFamily="34" charset="0"/>
              </a:rPr>
              <a:t>Make practical lessons reusable across the community.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C79752-790B-1668-9816-2FC6EAC75F0D}"/>
              </a:ext>
            </a:extLst>
          </p:cNvPr>
          <p:cNvSpPr/>
          <p:nvPr/>
        </p:nvSpPr>
        <p:spPr>
          <a:xfrm>
            <a:off x="685800" y="4762500"/>
            <a:ext cx="10820400" cy="889000"/>
          </a:xfrm>
          <a:prstGeom prst="rect">
            <a:avLst/>
          </a:prstGeom>
          <a:solidFill>
            <a:srgbClr val="192B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7A89C-149C-7C17-034E-55306845973E}"/>
              </a:ext>
            </a:extLst>
          </p:cNvPr>
          <p:cNvSpPr txBox="1"/>
          <p:nvPr/>
        </p:nvSpPr>
        <p:spPr>
          <a:xfrm>
            <a:off x="1016000" y="5003800"/>
            <a:ext cx="1016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Tonight continues the same cycle: evidence to experience to connection.</a:t>
            </a:r>
          </a:p>
        </p:txBody>
      </p:sp>
    </p:spTree>
    <p:extLst>
      <p:ext uri="{BB962C8B-B14F-4D97-AF65-F5344CB8AC3E}">
        <p14:creationId xmlns:p14="http://schemas.microsoft.com/office/powerpoint/2010/main" val="309249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3BDAE-4154-B72F-CFAA-6991F19B9960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SURVEY  |  LIVE WALK-THROUGH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00FEE-B4D6-C52D-E607-AF90AD4D7F51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Let's start with how this room actually uses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E7D6C-CDCE-4A78-2B12-460C5D295D14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CA530-B728-2B7B-93D9-904B107819B8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0BF3F-B149-380E-2F2B-48FEA5C465C3}"/>
              </a:ext>
            </a:extLst>
          </p:cNvPr>
          <p:cNvSpPr txBox="1"/>
          <p:nvPr/>
        </p:nvSpPr>
        <p:spPr>
          <a:xfrm>
            <a:off x="685800" y="2082800"/>
            <a:ext cx="6604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171717"/>
                </a:solidFill>
                <a:latin typeface="Aptos" panose="020B0004020202020204" pitchFamily="34" charset="0"/>
              </a:rPr>
              <a:t>The goal is not to rank tools.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972A6-2AE3-FACA-DB89-EB24F93E738A}"/>
              </a:ext>
            </a:extLst>
          </p:cNvPr>
          <p:cNvSpPr txBox="1"/>
          <p:nvPr/>
        </p:nvSpPr>
        <p:spPr>
          <a:xfrm>
            <a:off x="685800" y="2768600"/>
            <a:ext cx="6604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>
                <a:solidFill>
                  <a:srgbClr val="666666"/>
                </a:solidFill>
                <a:latin typeface="Aptos" panose="020B0004020202020204" pitchFamily="34" charset="0"/>
              </a:rPr>
              <a:t>It is to see where AI creates value, where it creates friction, and what we want to learn next.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9637C-FDDA-7AF5-8C83-47A80C736BD7}"/>
              </a:ext>
            </a:extLst>
          </p:cNvPr>
          <p:cNvSpPr/>
          <p:nvPr/>
        </p:nvSpPr>
        <p:spPr>
          <a:xfrm>
            <a:off x="8255000" y="2032000"/>
            <a:ext cx="3098800" cy="1524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65963-3F42-FCDA-8BAB-57D8BCCD5684}"/>
              </a:ext>
            </a:extLst>
          </p:cNvPr>
          <p:cNvSpPr txBox="1"/>
          <p:nvPr/>
        </p:nvSpPr>
        <p:spPr>
          <a:xfrm>
            <a:off x="8483600" y="2260600"/>
            <a:ext cx="2641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92B44"/>
                </a:solidFill>
                <a:latin typeface="Aptos" panose="020B0004020202020204" pitchFamily="34" charset="0"/>
              </a:rPr>
              <a:t>N = 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CB199-3D58-072B-B880-3BF7C5FB757F}"/>
              </a:ext>
            </a:extLst>
          </p:cNvPr>
          <p:cNvSpPr txBox="1"/>
          <p:nvPr/>
        </p:nvSpPr>
        <p:spPr>
          <a:xfrm>
            <a:off x="8483600" y="2921000"/>
            <a:ext cx="2641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Responses received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162D1-CAC1-75D0-B633-6D61E52CB38F}"/>
              </a:ext>
            </a:extLst>
          </p:cNvPr>
          <p:cNvSpPr txBox="1"/>
          <p:nvPr/>
        </p:nvSpPr>
        <p:spPr>
          <a:xfrm>
            <a:off x="8255000" y="3898900"/>
            <a:ext cx="3098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Responses pending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B3316-9D41-6236-09EB-07B5538F3615}"/>
              </a:ext>
            </a:extLst>
          </p:cNvPr>
          <p:cNvSpPr txBox="1"/>
          <p:nvPr/>
        </p:nvSpPr>
        <p:spPr>
          <a:xfrm>
            <a:off x="8255000" y="4343400"/>
            <a:ext cx="3098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Update all placeholder fields after the form closes.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4B7976-B937-6D6C-D51A-97F8691973D2}"/>
              </a:ext>
            </a:extLst>
          </p:cNvPr>
          <p:cNvSpPr/>
          <p:nvPr/>
        </p:nvSpPr>
        <p:spPr>
          <a:xfrm>
            <a:off x="685800" y="5080000"/>
            <a:ext cx="10668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82D8C-06B3-FC92-6856-35F734AEE25A}"/>
              </a:ext>
            </a:extLst>
          </p:cNvPr>
          <p:cNvSpPr txBox="1"/>
          <p:nvPr/>
        </p:nvSpPr>
        <p:spPr>
          <a:xfrm>
            <a:off x="685800" y="5295900"/>
            <a:ext cx="1066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71717"/>
                </a:solidFill>
                <a:latin typeface="Aptos" panose="020B0004020202020204" pitchFamily="34" charset="0"/>
              </a:rPr>
              <a:t>Listen for differences by role, funding source, and workflow maturity.</a:t>
            </a:r>
          </a:p>
        </p:txBody>
      </p:sp>
    </p:spTree>
    <p:extLst>
      <p:ext uri="{BB962C8B-B14F-4D97-AF65-F5344CB8AC3E}">
        <p14:creationId xmlns:p14="http://schemas.microsoft.com/office/powerpoint/2010/main" val="43072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E6DE1-CC48-DC38-FA91-96FBD26E8045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SURVEY  |  ACCESS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98EED-7AF7-5346-8887-20B0308A3F2F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AI adoption is shaped by both access and tool choice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93C4B-3B72-6B01-5666-3D6E8BAB8B13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91576-7177-222C-B5E8-9EDC6A7BE2E2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A2D29-4ECC-5523-590A-548793DB1924}"/>
              </a:ext>
            </a:extLst>
          </p:cNvPr>
          <p:cNvSpPr txBox="1"/>
          <p:nvPr/>
        </p:nvSpPr>
        <p:spPr>
          <a:xfrm>
            <a:off x="685800" y="1993900"/>
            <a:ext cx="482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Monthly personal spend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86F79-71EC-7A25-6884-F5A110A7704C}"/>
              </a:ext>
            </a:extLst>
          </p:cNvPr>
          <p:cNvSpPr txBox="1"/>
          <p:nvPr/>
        </p:nvSpPr>
        <p:spPr>
          <a:xfrm>
            <a:off x="685800" y="26035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23CE8C-16C5-A614-FBB4-BB738095650E}"/>
              </a:ext>
            </a:extLst>
          </p:cNvPr>
          <p:cNvSpPr/>
          <p:nvPr/>
        </p:nvSpPr>
        <p:spPr>
          <a:xfrm>
            <a:off x="1905000" y="2628900"/>
            <a:ext cx="5080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42E12-9121-BB29-EECD-3EF0789E82B0}"/>
              </a:ext>
            </a:extLst>
          </p:cNvPr>
          <p:cNvSpPr txBox="1"/>
          <p:nvPr/>
        </p:nvSpPr>
        <p:spPr>
          <a:xfrm>
            <a:off x="3937000" y="26035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C0294-3584-304F-4348-37D5698E710F}"/>
              </a:ext>
            </a:extLst>
          </p:cNvPr>
          <p:cNvSpPr txBox="1"/>
          <p:nvPr/>
        </p:nvSpPr>
        <p:spPr>
          <a:xfrm>
            <a:off x="685800" y="30607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$1-20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8C1371-371D-AE3A-D69E-E5939EB16103}"/>
              </a:ext>
            </a:extLst>
          </p:cNvPr>
          <p:cNvSpPr/>
          <p:nvPr/>
        </p:nvSpPr>
        <p:spPr>
          <a:xfrm>
            <a:off x="1905000" y="3086100"/>
            <a:ext cx="7366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6EEE0-F6B5-D5FD-B5C3-8089455E5735}"/>
              </a:ext>
            </a:extLst>
          </p:cNvPr>
          <p:cNvSpPr txBox="1"/>
          <p:nvPr/>
        </p:nvSpPr>
        <p:spPr>
          <a:xfrm>
            <a:off x="3937000" y="30607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4E5E7-C8AA-30D0-117D-3362FDDF7467}"/>
              </a:ext>
            </a:extLst>
          </p:cNvPr>
          <p:cNvSpPr txBox="1"/>
          <p:nvPr/>
        </p:nvSpPr>
        <p:spPr>
          <a:xfrm>
            <a:off x="685800" y="35179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$21-50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4B4FF3-3340-809B-9F57-14AF42B2CDEC}"/>
              </a:ext>
            </a:extLst>
          </p:cNvPr>
          <p:cNvSpPr/>
          <p:nvPr/>
        </p:nvSpPr>
        <p:spPr>
          <a:xfrm>
            <a:off x="1905000" y="3543300"/>
            <a:ext cx="9652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07F71-8C0B-EE26-428B-D026BB9C6C7E}"/>
              </a:ext>
            </a:extLst>
          </p:cNvPr>
          <p:cNvSpPr txBox="1"/>
          <p:nvPr/>
        </p:nvSpPr>
        <p:spPr>
          <a:xfrm>
            <a:off x="3937000" y="35179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93F0FF-AF53-9A2F-1073-36B37C3017C3}"/>
              </a:ext>
            </a:extLst>
          </p:cNvPr>
          <p:cNvSpPr txBox="1"/>
          <p:nvPr/>
        </p:nvSpPr>
        <p:spPr>
          <a:xfrm>
            <a:off x="685800" y="39751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$51-100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807F01-6477-08F1-03DD-D3FCD35AE2B3}"/>
              </a:ext>
            </a:extLst>
          </p:cNvPr>
          <p:cNvSpPr/>
          <p:nvPr/>
        </p:nvSpPr>
        <p:spPr>
          <a:xfrm>
            <a:off x="1905000" y="4000500"/>
            <a:ext cx="11938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78D5A-8DCC-8AC2-5C51-559C992B6097}"/>
              </a:ext>
            </a:extLst>
          </p:cNvPr>
          <p:cNvSpPr txBox="1"/>
          <p:nvPr/>
        </p:nvSpPr>
        <p:spPr>
          <a:xfrm>
            <a:off x="3937000" y="39751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7C133-6B09-DA65-FDDC-7F37CEB5357A}"/>
              </a:ext>
            </a:extLst>
          </p:cNvPr>
          <p:cNvSpPr txBox="1"/>
          <p:nvPr/>
        </p:nvSpPr>
        <p:spPr>
          <a:xfrm>
            <a:off x="685800" y="44323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$101-300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883731-4E2F-8F52-7D29-C73BAE16EE2B}"/>
              </a:ext>
            </a:extLst>
          </p:cNvPr>
          <p:cNvSpPr/>
          <p:nvPr/>
        </p:nvSpPr>
        <p:spPr>
          <a:xfrm>
            <a:off x="1905000" y="4457700"/>
            <a:ext cx="14224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D8E85-2316-C3AE-8F9E-8928AACB4F5F}"/>
              </a:ext>
            </a:extLst>
          </p:cNvPr>
          <p:cNvSpPr txBox="1"/>
          <p:nvPr/>
        </p:nvSpPr>
        <p:spPr>
          <a:xfrm>
            <a:off x="3937000" y="44323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A8EB4D-B799-3E12-9D0E-42B275FA7B54}"/>
              </a:ext>
            </a:extLst>
          </p:cNvPr>
          <p:cNvSpPr txBox="1"/>
          <p:nvPr/>
        </p:nvSpPr>
        <p:spPr>
          <a:xfrm>
            <a:off x="685800" y="48895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$300+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EA1F64-71F5-E6C3-89EF-3ACCCBEDC76E}"/>
              </a:ext>
            </a:extLst>
          </p:cNvPr>
          <p:cNvSpPr/>
          <p:nvPr/>
        </p:nvSpPr>
        <p:spPr>
          <a:xfrm>
            <a:off x="1905000" y="4914900"/>
            <a:ext cx="1651000" cy="1778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50268C-E3F1-F762-B739-B30BD4CA57B1}"/>
              </a:ext>
            </a:extLst>
          </p:cNvPr>
          <p:cNvSpPr txBox="1"/>
          <p:nvPr/>
        </p:nvSpPr>
        <p:spPr>
          <a:xfrm>
            <a:off x="3937000" y="48895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3E8DE1-3DD2-93B4-28CB-4520C4BEA98D}"/>
              </a:ext>
            </a:extLst>
          </p:cNvPr>
          <p:cNvSpPr txBox="1"/>
          <p:nvPr/>
        </p:nvSpPr>
        <p:spPr>
          <a:xfrm>
            <a:off x="685800" y="53467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Sponsored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A0D14C-C240-437C-22A3-4BF9DA1DEA4C}"/>
              </a:ext>
            </a:extLst>
          </p:cNvPr>
          <p:cNvSpPr/>
          <p:nvPr/>
        </p:nvSpPr>
        <p:spPr>
          <a:xfrm>
            <a:off x="1905000" y="5372100"/>
            <a:ext cx="1879600" cy="177800"/>
          </a:xfrm>
          <a:prstGeom prst="rect">
            <a:avLst/>
          </a:prstGeom>
          <a:solidFill>
            <a:srgbClr val="3D8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1D026F-9720-2F00-0BAE-F35FCDC06762}"/>
              </a:ext>
            </a:extLst>
          </p:cNvPr>
          <p:cNvSpPr txBox="1"/>
          <p:nvPr/>
        </p:nvSpPr>
        <p:spPr>
          <a:xfrm>
            <a:off x="3937000" y="5346700"/>
            <a:ext cx="381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D35FD-97AD-9357-AD19-5AD4188B47E6}"/>
              </a:ext>
            </a:extLst>
          </p:cNvPr>
          <p:cNvSpPr txBox="1"/>
          <p:nvPr/>
        </p:nvSpPr>
        <p:spPr>
          <a:xfrm>
            <a:off x="63500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Most-used services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C88C6F-50DE-F2BB-3F63-A4559C53468A}"/>
              </a:ext>
            </a:extLst>
          </p:cNvPr>
          <p:cNvSpPr/>
          <p:nvPr/>
        </p:nvSpPr>
        <p:spPr>
          <a:xfrm>
            <a:off x="6350000" y="2679700"/>
            <a:ext cx="2235200" cy="5842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BE0BFD-B952-7E68-39D0-718D175B9F8C}"/>
              </a:ext>
            </a:extLst>
          </p:cNvPr>
          <p:cNvSpPr txBox="1"/>
          <p:nvPr/>
        </p:nvSpPr>
        <p:spPr>
          <a:xfrm>
            <a:off x="6502400" y="28448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ChatGPT  --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9668C8-35DB-E603-4D9D-CBED65FE8EA6}"/>
              </a:ext>
            </a:extLst>
          </p:cNvPr>
          <p:cNvSpPr/>
          <p:nvPr/>
        </p:nvSpPr>
        <p:spPr>
          <a:xfrm>
            <a:off x="8890000" y="26797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22B870-91E6-2EDD-D5A5-53B052DF4F5E}"/>
              </a:ext>
            </a:extLst>
          </p:cNvPr>
          <p:cNvSpPr txBox="1"/>
          <p:nvPr/>
        </p:nvSpPr>
        <p:spPr>
          <a:xfrm>
            <a:off x="9042400" y="28448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Claude  --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9AC3CB-4F3E-A47A-AC82-D470985CC061}"/>
              </a:ext>
            </a:extLst>
          </p:cNvPr>
          <p:cNvSpPr/>
          <p:nvPr/>
        </p:nvSpPr>
        <p:spPr>
          <a:xfrm>
            <a:off x="6350000" y="34925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33EF7F-2DB5-CBB3-C828-133AE675CF58}"/>
              </a:ext>
            </a:extLst>
          </p:cNvPr>
          <p:cNvSpPr txBox="1"/>
          <p:nvPr/>
        </p:nvSpPr>
        <p:spPr>
          <a:xfrm>
            <a:off x="6502400" y="36576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Gemini  --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E6C1EC-6F14-7A34-A0F1-03364E03C46E}"/>
              </a:ext>
            </a:extLst>
          </p:cNvPr>
          <p:cNvSpPr/>
          <p:nvPr/>
        </p:nvSpPr>
        <p:spPr>
          <a:xfrm>
            <a:off x="8890000" y="34925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06ACEC-431D-6093-1FE7-CF2403E92627}"/>
              </a:ext>
            </a:extLst>
          </p:cNvPr>
          <p:cNvSpPr txBox="1"/>
          <p:nvPr/>
        </p:nvSpPr>
        <p:spPr>
          <a:xfrm>
            <a:off x="9042400" y="36576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Cursor / Copilot  --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54C9BF-499A-5959-AE13-97C18DAD8C4A}"/>
              </a:ext>
            </a:extLst>
          </p:cNvPr>
          <p:cNvSpPr/>
          <p:nvPr/>
        </p:nvSpPr>
        <p:spPr>
          <a:xfrm>
            <a:off x="6350000" y="43053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4B2188-A91E-A2BF-94F1-E5A840ED41C4}"/>
              </a:ext>
            </a:extLst>
          </p:cNvPr>
          <p:cNvSpPr txBox="1"/>
          <p:nvPr/>
        </p:nvSpPr>
        <p:spPr>
          <a:xfrm>
            <a:off x="6502400" y="44704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OpenRouter  --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340B45-3259-B671-89A5-4966D9BC1859}"/>
              </a:ext>
            </a:extLst>
          </p:cNvPr>
          <p:cNvSpPr/>
          <p:nvPr/>
        </p:nvSpPr>
        <p:spPr>
          <a:xfrm>
            <a:off x="8890000" y="43053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ED55C-1121-BDDC-5688-13410D333985}"/>
              </a:ext>
            </a:extLst>
          </p:cNvPr>
          <p:cNvSpPr txBox="1"/>
          <p:nvPr/>
        </p:nvSpPr>
        <p:spPr>
          <a:xfrm>
            <a:off x="9042400" y="44704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Perplexity  --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51F359-81CA-FA3C-B4E1-ED240AAE1D9C}"/>
              </a:ext>
            </a:extLst>
          </p:cNvPr>
          <p:cNvSpPr/>
          <p:nvPr/>
        </p:nvSpPr>
        <p:spPr>
          <a:xfrm>
            <a:off x="6350000" y="51181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1D6486-FBB7-DBA1-28AC-090B87ED549B}"/>
              </a:ext>
            </a:extLst>
          </p:cNvPr>
          <p:cNvSpPr txBox="1"/>
          <p:nvPr/>
        </p:nvSpPr>
        <p:spPr>
          <a:xfrm>
            <a:off x="6502400" y="52832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Direct API  --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B11670-9F20-1C1B-9766-F001B90501BA}"/>
              </a:ext>
            </a:extLst>
          </p:cNvPr>
          <p:cNvSpPr/>
          <p:nvPr/>
        </p:nvSpPr>
        <p:spPr>
          <a:xfrm>
            <a:off x="8890000" y="5118100"/>
            <a:ext cx="22352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50C171-C3D0-9F84-159B-1756AD94C0A6}"/>
              </a:ext>
            </a:extLst>
          </p:cNvPr>
          <p:cNvSpPr txBox="1"/>
          <p:nvPr/>
        </p:nvSpPr>
        <p:spPr>
          <a:xfrm>
            <a:off x="9042400" y="5283200"/>
            <a:ext cx="1955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Other  --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BD1179-054E-B858-E16B-FA49F6AF2455}"/>
              </a:ext>
            </a:extLst>
          </p:cNvPr>
          <p:cNvSpPr txBox="1"/>
          <p:nvPr/>
        </p:nvSpPr>
        <p:spPr>
          <a:xfrm>
            <a:off x="6350000" y="6121400"/>
            <a:ext cx="495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Replace bars and counts with final response totals.</a:t>
            </a:r>
          </a:p>
        </p:txBody>
      </p:sp>
    </p:spTree>
    <p:extLst>
      <p:ext uri="{BB962C8B-B14F-4D97-AF65-F5344CB8AC3E}">
        <p14:creationId xmlns:p14="http://schemas.microsoft.com/office/powerpoint/2010/main" val="307541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7CCAD-5F5F-C9B0-67E7-A4268C08EF7C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SURVEY  | 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B3806-7818-7F49-1FF7-95B4D1B235C6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Usage matters when it changes how work gets done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037E0-9DEA-275F-1968-A5423E0E49D3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370CD-A975-3499-F74F-4FB1AE03E7BA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A42F3-9D10-897B-0B12-532C192290AB}"/>
              </a:ext>
            </a:extLst>
          </p:cNvPr>
          <p:cNvSpPr txBox="1"/>
          <p:nvPr/>
        </p:nvSpPr>
        <p:spPr>
          <a:xfrm>
            <a:off x="685800" y="1993900"/>
            <a:ext cx="482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Primary use area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E3A00-1B93-4E6D-845D-5A9B2CE2DD44}"/>
              </a:ext>
            </a:extLst>
          </p:cNvPr>
          <p:cNvSpPr txBox="1"/>
          <p:nvPr/>
        </p:nvSpPr>
        <p:spPr>
          <a:xfrm>
            <a:off x="685800" y="26416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Core work / research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5D146-C27F-4E4A-50CF-BF50FD04F96D}"/>
              </a:ext>
            </a:extLst>
          </p:cNvPr>
          <p:cNvSpPr txBox="1"/>
          <p:nvPr/>
        </p:nvSpPr>
        <p:spPr>
          <a:xfrm>
            <a:off x="4699000" y="26416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2F60A-D152-01D1-8E40-CB2DD097EB7A}"/>
              </a:ext>
            </a:extLst>
          </p:cNvPr>
          <p:cNvSpPr/>
          <p:nvPr/>
        </p:nvSpPr>
        <p:spPr>
          <a:xfrm>
            <a:off x="685800" y="30099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B59A9-C317-3231-1B85-2A3494DC3D31}"/>
              </a:ext>
            </a:extLst>
          </p:cNvPr>
          <p:cNvSpPr txBox="1"/>
          <p:nvPr/>
        </p:nvSpPr>
        <p:spPr>
          <a:xfrm>
            <a:off x="685800" y="31877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Coding / product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2506D-32C9-B624-4A5D-F7FE78C0DEBA}"/>
              </a:ext>
            </a:extLst>
          </p:cNvPr>
          <p:cNvSpPr txBox="1"/>
          <p:nvPr/>
        </p:nvSpPr>
        <p:spPr>
          <a:xfrm>
            <a:off x="4699000" y="31877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4F5331-D430-BC86-7C97-6F96CFCD7CB2}"/>
              </a:ext>
            </a:extLst>
          </p:cNvPr>
          <p:cNvSpPr/>
          <p:nvPr/>
        </p:nvSpPr>
        <p:spPr>
          <a:xfrm>
            <a:off x="685800" y="35560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7234E-7839-5B8F-397F-510EE106ACB0}"/>
              </a:ext>
            </a:extLst>
          </p:cNvPr>
          <p:cNvSpPr txBox="1"/>
          <p:nvPr/>
        </p:nvSpPr>
        <p:spPr>
          <a:xfrm>
            <a:off x="685800" y="37338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Startup / side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2BAD8-3C63-5095-ED83-55EA638FF359}"/>
              </a:ext>
            </a:extLst>
          </p:cNvPr>
          <p:cNvSpPr txBox="1"/>
          <p:nvPr/>
        </p:nvSpPr>
        <p:spPr>
          <a:xfrm>
            <a:off x="4699000" y="37338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57718A-F5AB-2AE2-FE11-5A228C767660}"/>
              </a:ext>
            </a:extLst>
          </p:cNvPr>
          <p:cNvSpPr/>
          <p:nvPr/>
        </p:nvSpPr>
        <p:spPr>
          <a:xfrm>
            <a:off x="685800" y="41021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3A5A76-3008-449F-6EA5-E87446A1CDEB}"/>
              </a:ext>
            </a:extLst>
          </p:cNvPr>
          <p:cNvSpPr txBox="1"/>
          <p:nvPr/>
        </p:nvSpPr>
        <p:spPr>
          <a:xfrm>
            <a:off x="685800" y="42799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Learning / writing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C373A8-2515-8A94-3B53-A7EAF0CE4123}"/>
              </a:ext>
            </a:extLst>
          </p:cNvPr>
          <p:cNvSpPr txBox="1"/>
          <p:nvPr/>
        </p:nvSpPr>
        <p:spPr>
          <a:xfrm>
            <a:off x="4699000" y="42799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00A4E-6722-7059-17DB-795E0239F9D8}"/>
              </a:ext>
            </a:extLst>
          </p:cNvPr>
          <p:cNvSpPr/>
          <p:nvPr/>
        </p:nvSpPr>
        <p:spPr>
          <a:xfrm>
            <a:off x="685800" y="46482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E20E23-3467-5CFE-345E-1FDF3A57D32F}"/>
              </a:ext>
            </a:extLst>
          </p:cNvPr>
          <p:cNvSpPr txBox="1"/>
          <p:nvPr/>
        </p:nvSpPr>
        <p:spPr>
          <a:xfrm>
            <a:off x="685800" y="48260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Personal admin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2AB86-A2D3-D14C-F5ED-7345F77F4D87}"/>
              </a:ext>
            </a:extLst>
          </p:cNvPr>
          <p:cNvSpPr txBox="1"/>
          <p:nvPr/>
        </p:nvSpPr>
        <p:spPr>
          <a:xfrm>
            <a:off x="4699000" y="48260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9715B-C76E-B068-633D-09436F51C1E1}"/>
              </a:ext>
            </a:extLst>
          </p:cNvPr>
          <p:cNvSpPr/>
          <p:nvPr/>
        </p:nvSpPr>
        <p:spPr>
          <a:xfrm>
            <a:off x="685800" y="51943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98253-26B9-AB75-0313-EE9109FEAEEF}"/>
              </a:ext>
            </a:extLst>
          </p:cNvPr>
          <p:cNvSpPr txBox="1"/>
          <p:nvPr/>
        </p:nvSpPr>
        <p:spPr>
          <a:xfrm>
            <a:off x="685800" y="53721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Creative 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3B68E-4F58-DC8D-98CA-BE3E25211AD4}"/>
              </a:ext>
            </a:extLst>
          </p:cNvPr>
          <p:cNvSpPr txBox="1"/>
          <p:nvPr/>
        </p:nvSpPr>
        <p:spPr>
          <a:xfrm>
            <a:off x="4699000" y="5372100"/>
            <a:ext cx="50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5D7ED3-D577-D3C6-4BC6-4EF266FC4CFE}"/>
              </a:ext>
            </a:extLst>
          </p:cNvPr>
          <p:cNvSpPr/>
          <p:nvPr/>
        </p:nvSpPr>
        <p:spPr>
          <a:xfrm>
            <a:off x="685800" y="5740400"/>
            <a:ext cx="45212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8E5E36-C337-18B7-221D-F504AC5F90B8}"/>
              </a:ext>
            </a:extLst>
          </p:cNvPr>
          <p:cNvSpPr txBox="1"/>
          <p:nvPr/>
        </p:nvSpPr>
        <p:spPr>
          <a:xfrm>
            <a:off x="63500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Perceived productivity lift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BA55B2-CBCF-06F5-E743-25BF82D6DD49}"/>
              </a:ext>
            </a:extLst>
          </p:cNvPr>
          <p:cNvSpPr/>
          <p:nvPr/>
        </p:nvSpPr>
        <p:spPr>
          <a:xfrm>
            <a:off x="6350000" y="2870200"/>
            <a:ext cx="736600" cy="7366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B68F5A-1BC4-155D-047A-0237D4F3BFBD}"/>
              </a:ext>
            </a:extLst>
          </p:cNvPr>
          <p:cNvSpPr txBox="1"/>
          <p:nvPr/>
        </p:nvSpPr>
        <p:spPr>
          <a:xfrm>
            <a:off x="6350000" y="3048000"/>
            <a:ext cx="736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1717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7BA8A0-2D6D-7FD0-0078-80F4C0A23C2F}"/>
              </a:ext>
            </a:extLst>
          </p:cNvPr>
          <p:cNvSpPr/>
          <p:nvPr/>
        </p:nvSpPr>
        <p:spPr>
          <a:xfrm>
            <a:off x="7315200" y="2870200"/>
            <a:ext cx="736600" cy="7366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E5C3A5-38C6-B131-F319-DFE79CB41739}"/>
              </a:ext>
            </a:extLst>
          </p:cNvPr>
          <p:cNvSpPr txBox="1"/>
          <p:nvPr/>
        </p:nvSpPr>
        <p:spPr>
          <a:xfrm>
            <a:off x="7315200" y="3048000"/>
            <a:ext cx="736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1717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DAD5D2-C431-3A93-67B8-777426CDFDD2}"/>
              </a:ext>
            </a:extLst>
          </p:cNvPr>
          <p:cNvSpPr/>
          <p:nvPr/>
        </p:nvSpPr>
        <p:spPr>
          <a:xfrm>
            <a:off x="8280400" y="2870200"/>
            <a:ext cx="736600" cy="7366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34FB2-9F2C-E970-440E-253F4C0E321B}"/>
              </a:ext>
            </a:extLst>
          </p:cNvPr>
          <p:cNvSpPr txBox="1"/>
          <p:nvPr/>
        </p:nvSpPr>
        <p:spPr>
          <a:xfrm>
            <a:off x="8280400" y="3048000"/>
            <a:ext cx="736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1717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521510-7642-C1A6-2127-9847BB1D5B26}"/>
              </a:ext>
            </a:extLst>
          </p:cNvPr>
          <p:cNvSpPr/>
          <p:nvPr/>
        </p:nvSpPr>
        <p:spPr>
          <a:xfrm>
            <a:off x="9245600" y="2870200"/>
            <a:ext cx="736600" cy="7366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87019A-256E-C5E2-A99F-44EDE731B77D}"/>
              </a:ext>
            </a:extLst>
          </p:cNvPr>
          <p:cNvSpPr txBox="1"/>
          <p:nvPr/>
        </p:nvSpPr>
        <p:spPr>
          <a:xfrm>
            <a:off x="9245600" y="3048000"/>
            <a:ext cx="736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71717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42FF9C-8699-3A89-3D86-720BF9781D69}"/>
              </a:ext>
            </a:extLst>
          </p:cNvPr>
          <p:cNvSpPr/>
          <p:nvPr/>
        </p:nvSpPr>
        <p:spPr>
          <a:xfrm>
            <a:off x="10210800" y="2870200"/>
            <a:ext cx="736600" cy="736600"/>
          </a:xfrm>
          <a:prstGeom prst="rect">
            <a:avLst/>
          </a:prstGeom>
          <a:solidFill>
            <a:srgbClr val="3D8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9FCE0E-1644-8AFF-CDE3-E1304716E2A7}"/>
              </a:ext>
            </a:extLst>
          </p:cNvPr>
          <p:cNvSpPr txBox="1"/>
          <p:nvPr/>
        </p:nvSpPr>
        <p:spPr>
          <a:xfrm>
            <a:off x="10210800" y="3048000"/>
            <a:ext cx="7366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DFA25-9460-6E8E-55FC-B70A51EF8D8D}"/>
              </a:ext>
            </a:extLst>
          </p:cNvPr>
          <p:cNvSpPr txBox="1"/>
          <p:nvPr/>
        </p:nvSpPr>
        <p:spPr>
          <a:xfrm>
            <a:off x="6350000" y="3810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  <a:latin typeface="Aptos" panose="020B0004020202020204" pitchFamily="34" charset="0"/>
              </a:rPr>
              <a:t>1 = little change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12A1DA-550F-0258-35A8-F80061D2DE8E}"/>
              </a:ext>
            </a:extLst>
          </p:cNvPr>
          <p:cNvSpPr txBox="1"/>
          <p:nvPr/>
        </p:nvSpPr>
        <p:spPr>
          <a:xfrm>
            <a:off x="9144000" y="3810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300">
                <a:solidFill>
                  <a:srgbClr val="666666"/>
                </a:solidFill>
                <a:latin typeface="Aptos" panose="020B0004020202020204" pitchFamily="34" charset="0"/>
              </a:rPr>
              <a:t>5 = major shift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571CC8-4523-BB4D-9401-4FA9F2078839}"/>
              </a:ext>
            </a:extLst>
          </p:cNvPr>
          <p:cNvSpPr/>
          <p:nvPr/>
        </p:nvSpPr>
        <p:spPr>
          <a:xfrm>
            <a:off x="6350000" y="4445000"/>
            <a:ext cx="2286000" cy="1524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1B55D7-5980-AC15-2673-130C3FB37708}"/>
              </a:ext>
            </a:extLst>
          </p:cNvPr>
          <p:cNvSpPr txBox="1"/>
          <p:nvPr/>
        </p:nvSpPr>
        <p:spPr>
          <a:xfrm>
            <a:off x="6578600" y="4673600"/>
            <a:ext cx="1828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92B4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1B0280-6F9B-C20D-8A31-06BC610EC7F0}"/>
              </a:ext>
            </a:extLst>
          </p:cNvPr>
          <p:cNvSpPr txBox="1"/>
          <p:nvPr/>
        </p:nvSpPr>
        <p:spPr>
          <a:xfrm>
            <a:off x="6578600" y="5334000"/>
            <a:ext cx="1828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Average score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BEA121-7775-C453-0141-880A645F434F}"/>
              </a:ext>
            </a:extLst>
          </p:cNvPr>
          <p:cNvSpPr/>
          <p:nvPr/>
        </p:nvSpPr>
        <p:spPr>
          <a:xfrm>
            <a:off x="8890000" y="4445000"/>
            <a:ext cx="2286000" cy="1524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2C6F03-3D7A-998F-F236-3E266D9509B1}"/>
              </a:ext>
            </a:extLst>
          </p:cNvPr>
          <p:cNvSpPr txBox="1"/>
          <p:nvPr/>
        </p:nvSpPr>
        <p:spPr>
          <a:xfrm>
            <a:off x="9118600" y="4673600"/>
            <a:ext cx="1828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--%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284357-7657-B484-EF07-C04B7C07D120}"/>
              </a:ext>
            </a:extLst>
          </p:cNvPr>
          <p:cNvSpPr txBox="1"/>
          <p:nvPr/>
        </p:nvSpPr>
        <p:spPr>
          <a:xfrm>
            <a:off x="9118600" y="5334000"/>
            <a:ext cx="1828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Selected 4 or 5</a:t>
            </a:r>
          </a:p>
        </p:txBody>
      </p:sp>
    </p:spTree>
    <p:extLst>
      <p:ext uri="{BB962C8B-B14F-4D97-AF65-F5344CB8AC3E}">
        <p14:creationId xmlns:p14="http://schemas.microsoft.com/office/powerpoint/2010/main" val="41430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30DCD-3155-D6FE-5793-EC52F91D2AD8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SURVEY  |  ECONOMICS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37E74-5D3E-5BB7-A8F1-171E88A5B249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The central trade-off is value created per token spent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0B988-0F2A-6728-C61C-FD70B9DB6CC6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5CB19-763D-C8E9-BDEA-C485A6B28597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4D2A7-3008-2788-49D2-49E6936BA30F}"/>
              </a:ext>
            </a:extLst>
          </p:cNvPr>
          <p:cNvSpPr txBox="1"/>
          <p:nvPr/>
        </p:nvSpPr>
        <p:spPr>
          <a:xfrm>
            <a:off x="6858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Token Maxing 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E4FC5-6B1C-C178-E5CB-E7AB81286954}"/>
              </a:ext>
            </a:extLst>
          </p:cNvPr>
          <p:cNvSpPr/>
          <p:nvPr/>
        </p:nvSpPr>
        <p:spPr>
          <a:xfrm>
            <a:off x="685800" y="2705100"/>
            <a:ext cx="41910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95976-F205-F1A5-9F92-BF77A0D60E9A}"/>
              </a:ext>
            </a:extLst>
          </p:cNvPr>
          <p:cNvSpPr txBox="1"/>
          <p:nvPr/>
        </p:nvSpPr>
        <p:spPr>
          <a:xfrm>
            <a:off x="889000" y="2870200"/>
            <a:ext cx="3784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Use aggressively   --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64CD2-7C3C-E11A-69BB-176FA6811681}"/>
              </a:ext>
            </a:extLst>
          </p:cNvPr>
          <p:cNvSpPr/>
          <p:nvPr/>
        </p:nvSpPr>
        <p:spPr>
          <a:xfrm>
            <a:off x="685800" y="3530600"/>
            <a:ext cx="4191000" cy="5842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CC794-B3CB-20B0-FE25-551F14019575}"/>
              </a:ext>
            </a:extLst>
          </p:cNvPr>
          <p:cNvSpPr txBox="1"/>
          <p:nvPr/>
        </p:nvSpPr>
        <p:spPr>
          <a:xfrm>
            <a:off x="889000" y="3695700"/>
            <a:ext cx="3784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Optimize cost / benefit   --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CEDCE2-B8FB-BCBB-CE5D-36EE1FB351E3}"/>
              </a:ext>
            </a:extLst>
          </p:cNvPr>
          <p:cNvSpPr/>
          <p:nvPr/>
        </p:nvSpPr>
        <p:spPr>
          <a:xfrm>
            <a:off x="685800" y="4356100"/>
            <a:ext cx="41910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8D08D-A85F-8010-CC56-A5471D58C03E}"/>
              </a:ext>
            </a:extLst>
          </p:cNvPr>
          <p:cNvSpPr txBox="1"/>
          <p:nvPr/>
        </p:nvSpPr>
        <p:spPr>
          <a:xfrm>
            <a:off x="889000" y="4521200"/>
            <a:ext cx="3784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Value still uncertain   --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2AA1F1-9C59-B333-40B6-72071BD1CCC0}"/>
              </a:ext>
            </a:extLst>
          </p:cNvPr>
          <p:cNvSpPr/>
          <p:nvPr/>
        </p:nvSpPr>
        <p:spPr>
          <a:xfrm>
            <a:off x="685800" y="5181600"/>
            <a:ext cx="4191000" cy="584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1376D5-B34C-9650-D3BD-CB9B98DE4ED2}"/>
              </a:ext>
            </a:extLst>
          </p:cNvPr>
          <p:cNvSpPr txBox="1"/>
          <p:nvPr/>
        </p:nvSpPr>
        <p:spPr>
          <a:xfrm>
            <a:off x="889000" y="5346700"/>
            <a:ext cx="3784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Not sure yet   --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39418-88B7-7F86-150E-80790952A559}"/>
              </a:ext>
            </a:extLst>
          </p:cNvPr>
          <p:cNvSpPr txBox="1"/>
          <p:nvPr/>
        </p:nvSpPr>
        <p:spPr>
          <a:xfrm>
            <a:off x="63500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Does AI cost create enough value?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F32768-CD58-1AF9-4577-D3D028CE10AA}"/>
              </a:ext>
            </a:extLst>
          </p:cNvPr>
          <p:cNvSpPr txBox="1"/>
          <p:nvPr/>
        </p:nvSpPr>
        <p:spPr>
          <a:xfrm>
            <a:off x="6350000" y="27305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Strongly agree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6CFAC0-665F-CB14-4921-2EC7B9913B97}"/>
              </a:ext>
            </a:extLst>
          </p:cNvPr>
          <p:cNvSpPr txBox="1"/>
          <p:nvPr/>
        </p:nvSpPr>
        <p:spPr>
          <a:xfrm>
            <a:off x="10693400" y="2730500"/>
            <a:ext cx="48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439DA-3437-300D-6BC9-1B92CA37493F}"/>
              </a:ext>
            </a:extLst>
          </p:cNvPr>
          <p:cNvSpPr/>
          <p:nvPr/>
        </p:nvSpPr>
        <p:spPr>
          <a:xfrm>
            <a:off x="6350000" y="3124200"/>
            <a:ext cx="4826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B58514-773D-31DD-DBF6-81C13B64214A}"/>
              </a:ext>
            </a:extLst>
          </p:cNvPr>
          <p:cNvSpPr txBox="1"/>
          <p:nvPr/>
        </p:nvSpPr>
        <p:spPr>
          <a:xfrm>
            <a:off x="6350000" y="33655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Agree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32A914-CA92-5A69-FE98-D3C4620B0A8A}"/>
              </a:ext>
            </a:extLst>
          </p:cNvPr>
          <p:cNvSpPr txBox="1"/>
          <p:nvPr/>
        </p:nvSpPr>
        <p:spPr>
          <a:xfrm>
            <a:off x="10693400" y="3365500"/>
            <a:ext cx="48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326B5A-6EEA-E023-EEC1-911EF6BF417F}"/>
              </a:ext>
            </a:extLst>
          </p:cNvPr>
          <p:cNvSpPr/>
          <p:nvPr/>
        </p:nvSpPr>
        <p:spPr>
          <a:xfrm>
            <a:off x="6350000" y="3759200"/>
            <a:ext cx="4826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224379-CD18-D0A9-3B7C-4E02A9779696}"/>
              </a:ext>
            </a:extLst>
          </p:cNvPr>
          <p:cNvSpPr txBox="1"/>
          <p:nvPr/>
        </p:nvSpPr>
        <p:spPr>
          <a:xfrm>
            <a:off x="6350000" y="40005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Neutral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6F1EE-D9E3-8C62-3D75-659E809DFF61}"/>
              </a:ext>
            </a:extLst>
          </p:cNvPr>
          <p:cNvSpPr txBox="1"/>
          <p:nvPr/>
        </p:nvSpPr>
        <p:spPr>
          <a:xfrm>
            <a:off x="10693400" y="4000500"/>
            <a:ext cx="48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16EB23-082D-154F-9DAF-C7F60A8C5DB3}"/>
              </a:ext>
            </a:extLst>
          </p:cNvPr>
          <p:cNvSpPr/>
          <p:nvPr/>
        </p:nvSpPr>
        <p:spPr>
          <a:xfrm>
            <a:off x="6350000" y="4394200"/>
            <a:ext cx="4826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1D984C-0E53-9EB2-C611-5BAEB62A5079}"/>
              </a:ext>
            </a:extLst>
          </p:cNvPr>
          <p:cNvSpPr txBox="1"/>
          <p:nvPr/>
        </p:nvSpPr>
        <p:spPr>
          <a:xfrm>
            <a:off x="6350000" y="46355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Disagree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58291-C433-6682-09E1-079F4B862653}"/>
              </a:ext>
            </a:extLst>
          </p:cNvPr>
          <p:cNvSpPr txBox="1"/>
          <p:nvPr/>
        </p:nvSpPr>
        <p:spPr>
          <a:xfrm>
            <a:off x="10693400" y="4635500"/>
            <a:ext cx="48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7B4C-95DF-CE42-0594-D04061BD81C3}"/>
              </a:ext>
            </a:extLst>
          </p:cNvPr>
          <p:cNvSpPr/>
          <p:nvPr/>
        </p:nvSpPr>
        <p:spPr>
          <a:xfrm>
            <a:off x="6350000" y="5029200"/>
            <a:ext cx="4826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8E4A0C-8F55-8918-1DD4-BDE7FCEB077D}"/>
              </a:ext>
            </a:extLst>
          </p:cNvPr>
          <p:cNvSpPr txBox="1"/>
          <p:nvPr/>
        </p:nvSpPr>
        <p:spPr>
          <a:xfrm>
            <a:off x="6350000" y="52705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171717"/>
                </a:solidFill>
                <a:latin typeface="Aptos" panose="020B0004020202020204" pitchFamily="34" charset="0"/>
              </a:rPr>
              <a:t>Strongly disagree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03D166-4AE1-3F16-8D3E-172D1BDACF3C}"/>
              </a:ext>
            </a:extLst>
          </p:cNvPr>
          <p:cNvSpPr txBox="1"/>
          <p:nvPr/>
        </p:nvSpPr>
        <p:spPr>
          <a:xfrm>
            <a:off x="10693400" y="5270500"/>
            <a:ext cx="48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3D8DF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F7B62B-A9B0-CE1A-36BE-C1E0B7C8C6E6}"/>
              </a:ext>
            </a:extLst>
          </p:cNvPr>
          <p:cNvSpPr/>
          <p:nvPr/>
        </p:nvSpPr>
        <p:spPr>
          <a:xfrm>
            <a:off x="6350000" y="5664200"/>
            <a:ext cx="48260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6640C4-BFD1-109F-9F88-ABDA40733BA8}"/>
              </a:ext>
            </a:extLst>
          </p:cNvPr>
          <p:cNvSpPr/>
          <p:nvPr/>
        </p:nvSpPr>
        <p:spPr>
          <a:xfrm>
            <a:off x="6350000" y="5905500"/>
            <a:ext cx="4826000" cy="533400"/>
          </a:xfrm>
          <a:prstGeom prst="rect">
            <a:avLst/>
          </a:prstGeom>
          <a:solidFill>
            <a:srgbClr val="192B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DB7A3D-060E-D62F-D8F5-345D19D8B2CD}"/>
              </a:ext>
            </a:extLst>
          </p:cNvPr>
          <p:cNvSpPr txBox="1"/>
          <p:nvPr/>
        </p:nvSpPr>
        <p:spPr>
          <a:xfrm>
            <a:off x="6553200" y="6045200"/>
            <a:ext cx="4419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Add one anonymous example from Q7-1.</a:t>
            </a:r>
          </a:p>
        </p:txBody>
      </p:sp>
    </p:spTree>
    <p:extLst>
      <p:ext uri="{BB962C8B-B14F-4D97-AF65-F5344CB8AC3E}">
        <p14:creationId xmlns:p14="http://schemas.microsoft.com/office/powerpoint/2010/main" val="12740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1F8EFD-4133-7E60-EAC9-0354AC2DFE24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SURVEY  | 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6B7A3-584B-D93F-70CD-81ABF78AECA5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Better workflows are the next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ADF21-29C3-6667-CA4C-809A40D0E9A2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1C452-1416-126E-894F-AEDEBB31D66B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FEF61-7996-6C32-CB2C-849BF87CFCD8}"/>
              </a:ext>
            </a:extLst>
          </p:cNvPr>
          <p:cNvSpPr txBox="1"/>
          <p:nvPr/>
        </p:nvSpPr>
        <p:spPr>
          <a:xfrm>
            <a:off x="6858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Workflows already in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BF45A-5888-4A57-00C1-605A9A97CB00}"/>
              </a:ext>
            </a:extLst>
          </p:cNvPr>
          <p:cNvSpPr/>
          <p:nvPr/>
        </p:nvSpPr>
        <p:spPr>
          <a:xfrm>
            <a:off x="685800" y="26670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24631-3256-34E6-E2CA-C2498496C99C}"/>
              </a:ext>
            </a:extLst>
          </p:cNvPr>
          <p:cNvSpPr txBox="1"/>
          <p:nvPr/>
        </p:nvSpPr>
        <p:spPr>
          <a:xfrm>
            <a:off x="838200" y="28194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Research automation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2FBBB8-728C-01CE-DE47-0688BFC5E4BB}"/>
              </a:ext>
            </a:extLst>
          </p:cNvPr>
          <p:cNvSpPr/>
          <p:nvPr/>
        </p:nvSpPr>
        <p:spPr>
          <a:xfrm>
            <a:off x="3098800" y="26670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43C40-D27F-7809-730B-ED102D592572}"/>
              </a:ext>
            </a:extLst>
          </p:cNvPr>
          <p:cNvSpPr txBox="1"/>
          <p:nvPr/>
        </p:nvSpPr>
        <p:spPr>
          <a:xfrm>
            <a:off x="3251200" y="28194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Code review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86B32B-C0CC-1B18-EA46-1DCEC82443A5}"/>
              </a:ext>
            </a:extLst>
          </p:cNvPr>
          <p:cNvSpPr/>
          <p:nvPr/>
        </p:nvSpPr>
        <p:spPr>
          <a:xfrm>
            <a:off x="685800" y="36195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0C4AE-13CE-AD4B-1E57-859E20C6FC03}"/>
              </a:ext>
            </a:extLst>
          </p:cNvPr>
          <p:cNvSpPr txBox="1"/>
          <p:nvPr/>
        </p:nvSpPr>
        <p:spPr>
          <a:xfrm>
            <a:off x="838200" y="37719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Meeting notes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32178-79E3-119D-AD11-A26B486EFE4A}"/>
              </a:ext>
            </a:extLst>
          </p:cNvPr>
          <p:cNvSpPr/>
          <p:nvPr/>
        </p:nvSpPr>
        <p:spPr>
          <a:xfrm>
            <a:off x="3098800" y="36195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539B3E-DFCB-6C00-108A-8E03AACA48DB}"/>
              </a:ext>
            </a:extLst>
          </p:cNvPr>
          <p:cNvSpPr txBox="1"/>
          <p:nvPr/>
        </p:nvSpPr>
        <p:spPr>
          <a:xfrm>
            <a:off x="3251200" y="37719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Paper discovery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E8ACC2-7FD2-E3BE-8D9A-DEFB831F2678}"/>
              </a:ext>
            </a:extLst>
          </p:cNvPr>
          <p:cNvSpPr/>
          <p:nvPr/>
        </p:nvSpPr>
        <p:spPr>
          <a:xfrm>
            <a:off x="685800" y="45720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8785FF-CC93-0405-8E8F-A564974E70F2}"/>
              </a:ext>
            </a:extLst>
          </p:cNvPr>
          <p:cNvSpPr txBox="1"/>
          <p:nvPr/>
        </p:nvSpPr>
        <p:spPr>
          <a:xfrm>
            <a:off x="838200" y="47244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Customer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1C61F0-B521-7459-BC15-CE7C2586908C}"/>
              </a:ext>
            </a:extLst>
          </p:cNvPr>
          <p:cNvSpPr/>
          <p:nvPr/>
        </p:nvSpPr>
        <p:spPr>
          <a:xfrm>
            <a:off x="3098800" y="4572000"/>
            <a:ext cx="2159000" cy="7112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62368-ED31-C8DC-B2B0-67040103F186}"/>
              </a:ext>
            </a:extLst>
          </p:cNvPr>
          <p:cNvSpPr txBox="1"/>
          <p:nvPr/>
        </p:nvSpPr>
        <p:spPr>
          <a:xfrm>
            <a:off x="3251200" y="4724400"/>
            <a:ext cx="1854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171717"/>
                </a:solidFill>
                <a:latin typeface="Aptos" panose="020B0004020202020204" pitchFamily="34" charset="0"/>
              </a:rPr>
              <a:t>Other emerging patterns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5D1C5C-0436-21A2-9C4D-BCB45963791E}"/>
              </a:ext>
            </a:extLst>
          </p:cNvPr>
          <p:cNvSpPr txBox="1"/>
          <p:nvPr/>
        </p:nvSpPr>
        <p:spPr>
          <a:xfrm>
            <a:off x="6350000" y="1993900"/>
            <a:ext cx="495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What the community wants to learn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57B6D-6046-DB71-FE18-939FB6077020}"/>
              </a:ext>
            </a:extLst>
          </p:cNvPr>
          <p:cNvSpPr txBox="1"/>
          <p:nvPr/>
        </p:nvSpPr>
        <p:spPr>
          <a:xfrm>
            <a:off x="6350000" y="26289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9FD6B-203B-86E5-5BC7-8B6ACA12CAD4}"/>
              </a:ext>
            </a:extLst>
          </p:cNvPr>
          <p:cNvSpPr txBox="1"/>
          <p:nvPr/>
        </p:nvSpPr>
        <p:spPr>
          <a:xfrm>
            <a:off x="6883400" y="26289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Choosing the right model  --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C3BED7-A0C4-703C-5D90-E8A93B456385}"/>
              </a:ext>
            </a:extLst>
          </p:cNvPr>
          <p:cNvSpPr/>
          <p:nvPr/>
        </p:nvSpPr>
        <p:spPr>
          <a:xfrm>
            <a:off x="6883400" y="29972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1EA830-7A1E-8003-6E97-72FECE813A94}"/>
              </a:ext>
            </a:extLst>
          </p:cNvPr>
          <p:cNvSpPr txBox="1"/>
          <p:nvPr/>
        </p:nvSpPr>
        <p:spPr>
          <a:xfrm>
            <a:off x="6350000" y="31750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BB645-61EC-56E8-91CE-7A0C91227571}"/>
              </a:ext>
            </a:extLst>
          </p:cNvPr>
          <p:cNvSpPr txBox="1"/>
          <p:nvPr/>
        </p:nvSpPr>
        <p:spPr>
          <a:xfrm>
            <a:off x="6883400" y="31750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Cost control and APIs  --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CD525C-D203-6F3E-C261-48397D61FBEE}"/>
              </a:ext>
            </a:extLst>
          </p:cNvPr>
          <p:cNvSpPr/>
          <p:nvPr/>
        </p:nvSpPr>
        <p:spPr>
          <a:xfrm>
            <a:off x="6883400" y="35433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13D9F7-44BE-39F2-1B73-2E118AC984FE}"/>
              </a:ext>
            </a:extLst>
          </p:cNvPr>
          <p:cNvSpPr txBox="1"/>
          <p:nvPr/>
        </p:nvSpPr>
        <p:spPr>
          <a:xfrm>
            <a:off x="6350000" y="37211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B0ABBF-D85C-5DDA-C3A5-4D18D8EAA418}"/>
              </a:ext>
            </a:extLst>
          </p:cNvPr>
          <p:cNvSpPr txBox="1"/>
          <p:nvPr/>
        </p:nvSpPr>
        <p:spPr>
          <a:xfrm>
            <a:off x="6883400" y="37211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Agent workflow design  --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1A3B5-08E8-BE11-0DFF-07C8C16663CB}"/>
              </a:ext>
            </a:extLst>
          </p:cNvPr>
          <p:cNvSpPr/>
          <p:nvPr/>
        </p:nvSpPr>
        <p:spPr>
          <a:xfrm>
            <a:off x="6883400" y="40894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CF2580-9AE7-C318-57C6-B73F4770EB69}"/>
              </a:ext>
            </a:extLst>
          </p:cNvPr>
          <p:cNvSpPr txBox="1"/>
          <p:nvPr/>
        </p:nvSpPr>
        <p:spPr>
          <a:xfrm>
            <a:off x="6350000" y="42672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77A209-3A9D-EE3A-11C4-EB4D161BBB9D}"/>
              </a:ext>
            </a:extLst>
          </p:cNvPr>
          <p:cNvSpPr txBox="1"/>
          <p:nvPr/>
        </p:nvSpPr>
        <p:spPr>
          <a:xfrm>
            <a:off x="6883400" y="42672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Personal / team automation  --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03E2BE-3895-F928-CB18-0CC5A55024E4}"/>
              </a:ext>
            </a:extLst>
          </p:cNvPr>
          <p:cNvSpPr/>
          <p:nvPr/>
        </p:nvSpPr>
        <p:spPr>
          <a:xfrm>
            <a:off x="6883400" y="46355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5CADD3-9695-D5A1-50ED-7A6AB758B51F}"/>
              </a:ext>
            </a:extLst>
          </p:cNvPr>
          <p:cNvSpPr txBox="1"/>
          <p:nvPr/>
        </p:nvSpPr>
        <p:spPr>
          <a:xfrm>
            <a:off x="6350000" y="48133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79C82-173E-C4D1-C1B1-1FB70BE74683}"/>
              </a:ext>
            </a:extLst>
          </p:cNvPr>
          <p:cNvSpPr txBox="1"/>
          <p:nvPr/>
        </p:nvSpPr>
        <p:spPr>
          <a:xfrm>
            <a:off x="6883400" y="48133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AI coding tools  --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CDB848-3ABA-05DD-4691-99D1D75457DF}"/>
              </a:ext>
            </a:extLst>
          </p:cNvPr>
          <p:cNvSpPr/>
          <p:nvPr/>
        </p:nvSpPr>
        <p:spPr>
          <a:xfrm>
            <a:off x="6883400" y="51816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3AF20D-0718-E1D0-8EDD-67EC29C262FE}"/>
              </a:ext>
            </a:extLst>
          </p:cNvPr>
          <p:cNvSpPr txBox="1"/>
          <p:nvPr/>
        </p:nvSpPr>
        <p:spPr>
          <a:xfrm>
            <a:off x="6350000" y="5359400"/>
            <a:ext cx="38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8AE0F7-EC58-763F-8950-D6D67E55613E}"/>
              </a:ext>
            </a:extLst>
          </p:cNvPr>
          <p:cNvSpPr txBox="1"/>
          <p:nvPr/>
        </p:nvSpPr>
        <p:spPr>
          <a:xfrm>
            <a:off x="6883400" y="5359400"/>
            <a:ext cx="42926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1717"/>
                </a:solidFill>
                <a:latin typeface="Aptos" panose="020B0004020202020204" pitchFamily="34" charset="0"/>
              </a:rPr>
              <a:t>Data security and privacy  --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FA1DBD-402C-6A33-3469-51F294838FAF}"/>
              </a:ext>
            </a:extLst>
          </p:cNvPr>
          <p:cNvSpPr/>
          <p:nvPr/>
        </p:nvSpPr>
        <p:spPr>
          <a:xfrm>
            <a:off x="6883400" y="5727700"/>
            <a:ext cx="42926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4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DB3D3-C3A9-6D7B-AF9B-1F7A38390185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FEATURED TALK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A473B-8A7C-B923-0B81-94318FDC2BE6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AI agents become physical when they can perceive and 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FEC01-9A4C-D497-6045-1AF2E2DE5833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6882-A954-57FF-D39D-BCAF8ABC8D59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BD343-624C-A3D5-6B88-89A305044F59}"/>
              </a:ext>
            </a:extLst>
          </p:cNvPr>
          <p:cNvSpPr/>
          <p:nvPr/>
        </p:nvSpPr>
        <p:spPr>
          <a:xfrm>
            <a:off x="685800" y="2032000"/>
            <a:ext cx="3175000" cy="3302000"/>
          </a:xfrm>
          <a:prstGeom prst="rect">
            <a:avLst/>
          </a:prstGeom>
          <a:solidFill>
            <a:srgbClr val="192B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EA379-41E5-701F-E506-49DB6148E3AD}"/>
              </a:ext>
            </a:extLst>
          </p:cNvPr>
          <p:cNvSpPr txBox="1"/>
          <p:nvPr/>
        </p:nvSpPr>
        <p:spPr>
          <a:xfrm>
            <a:off x="1041400" y="2514600"/>
            <a:ext cx="2413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" panose="020B0004020202020204" pitchFamily="34" charset="0"/>
              </a:rPr>
              <a:t>TASKIN</a:t>
            </a:r>
          </a:p>
          <a:p>
            <a:r>
              <a:rPr lang="en-US" sz="3000" b="1">
                <a:solidFill>
                  <a:srgbClr val="FFFFFF"/>
                </a:solidFill>
                <a:latin typeface="Aptos" panose="020B0004020202020204" pitchFamily="34" charset="0"/>
              </a:rPr>
              <a:t>PADIR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9DB69-2203-834D-78E2-177A87A56711}"/>
              </a:ext>
            </a:extLst>
          </p:cNvPr>
          <p:cNvSpPr txBox="1"/>
          <p:nvPr/>
        </p:nvSpPr>
        <p:spPr>
          <a:xfrm>
            <a:off x="1041400" y="3911600"/>
            <a:ext cx="2413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Professor</a:t>
            </a:r>
          </a:p>
          <a:p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Northeastern University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03A0B-675F-2353-B640-4744E4774002}"/>
              </a:ext>
            </a:extLst>
          </p:cNvPr>
          <p:cNvSpPr txBox="1"/>
          <p:nvPr/>
        </p:nvSpPr>
        <p:spPr>
          <a:xfrm>
            <a:off x="4572000" y="2108200"/>
            <a:ext cx="3048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171717"/>
                </a:solidFill>
                <a:latin typeface="Aptos" panose="020B0004020202020204" pitchFamily="34" charset="0"/>
              </a:rPr>
              <a:t>Robotics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B4111-F88E-62C2-CE93-FF082AA262E6}"/>
              </a:ext>
            </a:extLst>
          </p:cNvPr>
          <p:cNvSpPr txBox="1"/>
          <p:nvPr/>
        </p:nvSpPr>
        <p:spPr>
          <a:xfrm>
            <a:off x="4572000" y="2857500"/>
            <a:ext cx="6096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171717"/>
                </a:solidFill>
                <a:latin typeface="Aptos" panose="020B0004020202020204" pitchFamily="34" charset="0"/>
              </a:rPr>
              <a:t>Human-Robot Interaction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3EB50-35F3-3CEB-1E28-BC658AE500B5}"/>
              </a:ext>
            </a:extLst>
          </p:cNvPr>
          <p:cNvSpPr txBox="1"/>
          <p:nvPr/>
        </p:nvSpPr>
        <p:spPr>
          <a:xfrm>
            <a:off x="4572000" y="3606800"/>
            <a:ext cx="3048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171717"/>
                </a:solidFill>
                <a:latin typeface="Aptos" panose="020B0004020202020204" pitchFamily="34" charset="0"/>
              </a:rPr>
              <a:t>Embodied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31A62-A2B8-6FCD-9515-B0D5E49A4DE3}"/>
              </a:ext>
            </a:extLst>
          </p:cNvPr>
          <p:cNvSpPr txBox="1"/>
          <p:nvPr/>
        </p:nvSpPr>
        <p:spPr>
          <a:xfrm>
            <a:off x="4572000" y="4356100"/>
            <a:ext cx="6350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192B44"/>
                </a:solidFill>
                <a:latin typeface="Aptos" panose="020B0004020202020204" pitchFamily="34" charset="0"/>
              </a:rPr>
              <a:t>The evolution of AI agents and Physical 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D2BEA-5313-23FB-96A5-6871FA837A9D}"/>
              </a:ext>
            </a:extLst>
          </p:cNvPr>
          <p:cNvSpPr txBox="1"/>
          <p:nvPr/>
        </p:nvSpPr>
        <p:spPr>
          <a:xfrm>
            <a:off x="4572000" y="5664200"/>
            <a:ext cx="635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66666"/>
                </a:solidFill>
                <a:latin typeface="Aptos" panose="020B0004020202020204" pitchFamily="34" charset="0"/>
              </a:rPr>
              <a:t>Featured presentation followed by discussion</a:t>
            </a:r>
          </a:p>
        </p:txBody>
      </p:sp>
    </p:spTree>
    <p:extLst>
      <p:ext uri="{BB962C8B-B14F-4D97-AF65-F5344CB8AC3E}">
        <p14:creationId xmlns:p14="http://schemas.microsoft.com/office/powerpoint/2010/main" val="72119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9C75B0-6780-FAF6-0EA0-33F12567BCAC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LIGHTNING TALKS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8B142-7B0F-AE22-4EE3-AEAA62E21D63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Lightning Talks turn workflows into shared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FDC12-2041-0907-A72B-9BA26E563861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1EF5E-3C32-1C50-B639-224AF9D45509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2FC351-FA99-1B11-3DA9-C40F949D4B1A}"/>
              </a:ext>
            </a:extLst>
          </p:cNvPr>
          <p:cNvSpPr/>
          <p:nvPr/>
        </p:nvSpPr>
        <p:spPr>
          <a:xfrm>
            <a:off x="685800" y="2032000"/>
            <a:ext cx="3175000" cy="1524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6617F-D110-9A2D-EC22-A1F9B8EEAE5B}"/>
              </a:ext>
            </a:extLst>
          </p:cNvPr>
          <p:cNvSpPr txBox="1"/>
          <p:nvPr/>
        </p:nvSpPr>
        <p:spPr>
          <a:xfrm>
            <a:off x="914400" y="2260600"/>
            <a:ext cx="2717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92B44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B0B5A-0B2A-906F-4680-0153D4D5F0A9}"/>
              </a:ext>
            </a:extLst>
          </p:cNvPr>
          <p:cNvSpPr txBox="1"/>
          <p:nvPr/>
        </p:nvSpPr>
        <p:spPr>
          <a:xfrm>
            <a:off x="914400" y="29210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Confirmed speakers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DFA9B-D42A-7C91-A946-59CA40592EBD}"/>
              </a:ext>
            </a:extLst>
          </p:cNvPr>
          <p:cNvSpPr/>
          <p:nvPr/>
        </p:nvSpPr>
        <p:spPr>
          <a:xfrm>
            <a:off x="4191000" y="2032000"/>
            <a:ext cx="3175000" cy="1524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20272-58DF-689E-DD85-F67E3F519932}"/>
              </a:ext>
            </a:extLst>
          </p:cNvPr>
          <p:cNvSpPr txBox="1"/>
          <p:nvPr/>
        </p:nvSpPr>
        <p:spPr>
          <a:xfrm>
            <a:off x="4419600" y="2260600"/>
            <a:ext cx="2717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--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6AAF7-B7C4-1737-8314-0B353AA9D1A8}"/>
              </a:ext>
            </a:extLst>
          </p:cNvPr>
          <p:cNvSpPr txBox="1"/>
          <p:nvPr/>
        </p:nvSpPr>
        <p:spPr>
          <a:xfrm>
            <a:off x="4419600" y="29210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Planning a live 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D7D10-2F8A-6B61-691C-62756C7E9250}"/>
              </a:ext>
            </a:extLst>
          </p:cNvPr>
          <p:cNvSpPr/>
          <p:nvPr/>
        </p:nvSpPr>
        <p:spPr>
          <a:xfrm>
            <a:off x="7696200" y="2032000"/>
            <a:ext cx="3657600" cy="1524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8BC89-49C5-2AE3-8298-65238D8F4762}"/>
              </a:ext>
            </a:extLst>
          </p:cNvPr>
          <p:cNvSpPr txBox="1"/>
          <p:nvPr/>
        </p:nvSpPr>
        <p:spPr>
          <a:xfrm>
            <a:off x="7924800" y="2260600"/>
            <a:ext cx="32004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1717"/>
                </a:solidFill>
                <a:latin typeface="Aptos" panose="020B0004020202020204" pitchFamily="34" charset="0"/>
              </a:rPr>
              <a:t>-- min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2BF5D-28DB-FC49-3B49-201C3113E3AA}"/>
              </a:ext>
            </a:extLst>
          </p:cNvPr>
          <p:cNvSpPr txBox="1"/>
          <p:nvPr/>
        </p:nvSpPr>
        <p:spPr>
          <a:xfrm>
            <a:off x="7924800" y="2921000"/>
            <a:ext cx="3200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Median talk length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51024-454D-6D0C-8D6F-BAF59BB57628}"/>
              </a:ext>
            </a:extLst>
          </p:cNvPr>
          <p:cNvSpPr txBox="1"/>
          <p:nvPr/>
        </p:nvSpPr>
        <p:spPr>
          <a:xfrm>
            <a:off x="685800" y="4114800"/>
            <a:ext cx="546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Among Lightning Talk participants...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00468-59BA-C013-ED8D-1B4FE232A5B2}"/>
              </a:ext>
            </a:extLst>
          </p:cNvPr>
          <p:cNvSpPr txBox="1"/>
          <p:nvPr/>
        </p:nvSpPr>
        <p:spPr>
          <a:xfrm>
            <a:off x="685800" y="4699000"/>
            <a:ext cx="6477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666666"/>
                </a:solidFill>
                <a:latin typeface="Aptos" panose="020B0004020202020204" pitchFamily="34" charset="0"/>
              </a:rPr>
              <a:t>-- chose case-based presentations</a:t>
            </a:r>
          </a:p>
          <a:p>
            <a:r>
              <a:rPr lang="en-US">
                <a:solidFill>
                  <a:srgbClr val="666666"/>
                </a:solidFill>
                <a:latin typeface="Aptos" panose="020B0004020202020204" pitchFamily="34" charset="0"/>
              </a:rPr>
              <a:t>-- will share a failure and improvement cycle</a:t>
            </a:r>
          </a:p>
          <a:p>
            <a:r>
              <a:rPr lang="en-US">
                <a:solidFill>
                  <a:srgbClr val="666666"/>
                </a:solidFill>
                <a:latin typeface="Aptos" panose="020B0004020202020204" pitchFamily="34" charset="0"/>
              </a:rPr>
              <a:t>-- named coding or research as the main use case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BB63E-449E-9749-C0D5-044BA2D8720D}"/>
              </a:ext>
            </a:extLst>
          </p:cNvPr>
          <p:cNvSpPr/>
          <p:nvPr/>
        </p:nvSpPr>
        <p:spPr>
          <a:xfrm>
            <a:off x="8255000" y="4279900"/>
            <a:ext cx="3098800" cy="1651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91831-C44C-AE27-B84E-4C48F58EA3B7}"/>
              </a:ext>
            </a:extLst>
          </p:cNvPr>
          <p:cNvSpPr txBox="1"/>
          <p:nvPr/>
        </p:nvSpPr>
        <p:spPr>
          <a:xfrm>
            <a:off x="8509000" y="45339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666666"/>
                </a:solidFill>
                <a:latin typeface="Aptos" panose="020B0004020202020204" pitchFamily="34" charset="0"/>
              </a:rPr>
              <a:t>TOOLS MENTIONED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406FE6-0161-018E-3291-3260D10CB2BB}"/>
              </a:ext>
            </a:extLst>
          </p:cNvPr>
          <p:cNvSpPr txBox="1"/>
          <p:nvPr/>
        </p:nvSpPr>
        <p:spPr>
          <a:xfrm>
            <a:off x="8509000" y="5003800"/>
            <a:ext cx="25908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192B44"/>
                </a:solidFill>
                <a:latin typeface="Aptos" panose="020B0004020202020204" pitchFamily="34" charset="0"/>
              </a:rPr>
              <a:t>--  --  --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0DF61-8C23-892D-75F1-6DA6DB7DF2B8}"/>
              </a:ext>
            </a:extLst>
          </p:cNvPr>
          <p:cNvSpPr txBox="1"/>
          <p:nvPr/>
        </p:nvSpPr>
        <p:spPr>
          <a:xfrm>
            <a:off x="8509000" y="55626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ptos" panose="020B0004020202020204" pitchFamily="34" charset="0"/>
              </a:rPr>
              <a:t>Replace with top 3 tools/models.</a:t>
            </a:r>
          </a:p>
        </p:txBody>
      </p:sp>
    </p:spTree>
    <p:extLst>
      <p:ext uri="{BB962C8B-B14F-4D97-AF65-F5344CB8AC3E}">
        <p14:creationId xmlns:p14="http://schemas.microsoft.com/office/powerpoint/2010/main" val="99109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D97C6F-110F-762E-098D-FD8383BC67C6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COMMUNITY LIGHTNING TALKS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9A1FD-AC02-0A54-FB2F-3C8501F83203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Three questions to carry into every Lightning Talk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27D3A-079C-82B9-D5CD-5BEF091ED755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6E079-EE70-D8CA-3C42-F87E791E1AD2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D58FF-AD80-1892-6275-2FD06B621886}"/>
              </a:ext>
            </a:extLst>
          </p:cNvPr>
          <p:cNvSpPr txBox="1"/>
          <p:nvPr/>
        </p:nvSpPr>
        <p:spPr>
          <a:xfrm>
            <a:off x="685800" y="2184400"/>
            <a:ext cx="508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3D8DF4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FA622A-0997-5236-2D8B-313A1CB0812A}"/>
              </a:ext>
            </a:extLst>
          </p:cNvPr>
          <p:cNvSpPr/>
          <p:nvPr/>
        </p:nvSpPr>
        <p:spPr>
          <a:xfrm>
            <a:off x="685800" y="2870200"/>
            <a:ext cx="3149600" cy="2159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69075-CA4E-1606-7909-B19153A6CD1F}"/>
              </a:ext>
            </a:extLst>
          </p:cNvPr>
          <p:cNvSpPr txBox="1"/>
          <p:nvPr/>
        </p:nvSpPr>
        <p:spPr>
          <a:xfrm>
            <a:off x="939800" y="3314700"/>
            <a:ext cx="26416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What problem was worth solving?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EFA81-4E48-7B7A-E3E0-519BFD3A62D0}"/>
              </a:ext>
            </a:extLst>
          </p:cNvPr>
          <p:cNvSpPr txBox="1"/>
          <p:nvPr/>
        </p:nvSpPr>
        <p:spPr>
          <a:xfrm>
            <a:off x="4292600" y="2184400"/>
            <a:ext cx="508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3D8DF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90822-2122-74C5-DD6C-0A84E2EE26C9}"/>
              </a:ext>
            </a:extLst>
          </p:cNvPr>
          <p:cNvSpPr/>
          <p:nvPr/>
        </p:nvSpPr>
        <p:spPr>
          <a:xfrm>
            <a:off x="4292600" y="2870200"/>
            <a:ext cx="3149600" cy="2159000"/>
          </a:xfrm>
          <a:prstGeom prst="rect">
            <a:avLst/>
          </a:prstGeom>
          <a:solidFill>
            <a:srgbClr val="D0ED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B1124-E3B2-C2DF-2A4F-356F6BE4F1F7}"/>
              </a:ext>
            </a:extLst>
          </p:cNvPr>
          <p:cNvSpPr txBox="1"/>
          <p:nvPr/>
        </p:nvSpPr>
        <p:spPr>
          <a:xfrm>
            <a:off x="4546600" y="3314700"/>
            <a:ext cx="26416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What workflow actually ran?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8A3808-3273-AF47-8FD5-380020CA096F}"/>
              </a:ext>
            </a:extLst>
          </p:cNvPr>
          <p:cNvSpPr txBox="1"/>
          <p:nvPr/>
        </p:nvSpPr>
        <p:spPr>
          <a:xfrm>
            <a:off x="7899400" y="2184400"/>
            <a:ext cx="508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3D8DF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BB711-6A0F-B4C9-88C0-551D89E251DE}"/>
              </a:ext>
            </a:extLst>
          </p:cNvPr>
          <p:cNvSpPr/>
          <p:nvPr/>
        </p:nvSpPr>
        <p:spPr>
          <a:xfrm>
            <a:off x="7899400" y="2870200"/>
            <a:ext cx="3149600" cy="2159000"/>
          </a:xfrm>
          <a:prstGeom prst="rect">
            <a:avLst/>
          </a:prstGeom>
          <a:solidFill>
            <a:srgbClr val="F2F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DBDF0C-09BA-F2EF-6640-820776F1171A}"/>
              </a:ext>
            </a:extLst>
          </p:cNvPr>
          <p:cNvSpPr txBox="1"/>
          <p:nvPr/>
        </p:nvSpPr>
        <p:spPr>
          <a:xfrm>
            <a:off x="8153400" y="3314700"/>
            <a:ext cx="26416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71717"/>
                </a:solidFill>
                <a:latin typeface="Aptos" panose="020B0004020202020204" pitchFamily="34" charset="0"/>
              </a:rPr>
              <a:t>What changed after the first failure?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529B9-51A4-B755-AE3C-BC3476A5CD73}"/>
              </a:ext>
            </a:extLst>
          </p:cNvPr>
          <p:cNvSpPr txBox="1"/>
          <p:nvPr/>
        </p:nvSpPr>
        <p:spPr>
          <a:xfrm>
            <a:off x="685800" y="5600700"/>
            <a:ext cx="10668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92B44"/>
                </a:solidFill>
                <a:latin typeface="Aptos" panose="020B0004020202020204" pitchFamily="34" charset="0"/>
              </a:rPr>
              <a:t>Short talks. Concrete workflows. Honest lessons.</a:t>
            </a:r>
          </a:p>
        </p:txBody>
      </p:sp>
    </p:spTree>
    <p:extLst>
      <p:ext uri="{BB962C8B-B14F-4D97-AF65-F5344CB8AC3E}">
        <p14:creationId xmlns:p14="http://schemas.microsoft.com/office/powerpoint/2010/main" val="291708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B69A9-5C1A-68F7-B7D0-CE3F1DC2D7FB}"/>
              </a:ext>
            </a:extLst>
          </p:cNvPr>
          <p:cNvSpPr txBox="1"/>
          <p:nvPr/>
        </p:nvSpPr>
        <p:spPr>
          <a:xfrm>
            <a:off x="685800" y="355600"/>
            <a:ext cx="10820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666666"/>
                </a:solidFill>
                <a:latin typeface="Aptos" panose="020B0004020202020204" pitchFamily="34" charset="0"/>
              </a:rPr>
              <a:t>NETWORKING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1CE98-DDE3-ABE6-01AB-3B92905471B2}"/>
              </a:ext>
            </a:extLst>
          </p:cNvPr>
          <p:cNvSpPr txBox="1"/>
          <p:nvPr/>
        </p:nvSpPr>
        <p:spPr>
          <a:xfrm>
            <a:off x="685800" y="787400"/>
            <a:ext cx="108204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00" b="1">
                <a:solidFill>
                  <a:srgbClr val="171717"/>
                </a:solidFill>
                <a:latin typeface="Aptos" panose="020B0004020202020204" pitchFamily="34" charset="0"/>
              </a:rPr>
              <a:t>Continue the conversation over dinner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3881D-8135-AF96-B445-9B85C2A19BBD}"/>
              </a:ext>
            </a:extLst>
          </p:cNvPr>
          <p:cNvSpPr/>
          <p:nvPr/>
        </p:nvSpPr>
        <p:spPr>
          <a:xfrm>
            <a:off x="685800" y="1600200"/>
            <a:ext cx="10820400" cy="12700"/>
          </a:xfrm>
          <a:prstGeom prst="rect">
            <a:avLst/>
          </a:prstGeom>
          <a:solidFill>
            <a:srgbClr val="D8D4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5649D-9311-A62D-8BAD-E0A63C5DC0F8}"/>
              </a:ext>
            </a:extLst>
          </p:cNvPr>
          <p:cNvSpPr txBox="1"/>
          <p:nvPr/>
        </p:nvSpPr>
        <p:spPr>
          <a:xfrm>
            <a:off x="11226800" y="6477000"/>
            <a:ext cx="279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66666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CD711-D424-0C46-C11C-98FD64DC96FA}"/>
              </a:ext>
            </a:extLst>
          </p:cNvPr>
          <p:cNvSpPr txBox="1"/>
          <p:nvPr/>
        </p:nvSpPr>
        <p:spPr>
          <a:xfrm>
            <a:off x="685800" y="2082800"/>
            <a:ext cx="5334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500" b="1">
                <a:solidFill>
                  <a:srgbClr val="171717"/>
                </a:solidFill>
                <a:latin typeface="Aptos" panose="020B0004020202020204" pitchFamily="34" charset="0"/>
              </a:rPr>
              <a:t>Find one person who...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FF3BC-7B6F-AAE6-BE11-024AAE41CE19}"/>
              </a:ext>
            </a:extLst>
          </p:cNvPr>
          <p:cNvSpPr txBox="1"/>
          <p:nvPr/>
        </p:nvSpPr>
        <p:spPr>
          <a:xfrm>
            <a:off x="685800" y="2870200"/>
            <a:ext cx="406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BB6B1-9562-2BA0-9CF8-0CFB07E72B8F}"/>
              </a:ext>
            </a:extLst>
          </p:cNvPr>
          <p:cNvSpPr txBox="1"/>
          <p:nvPr/>
        </p:nvSpPr>
        <p:spPr>
          <a:xfrm>
            <a:off x="1295400" y="2870200"/>
            <a:ext cx="546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171717"/>
                </a:solidFill>
                <a:latin typeface="Aptos" panose="020B0004020202020204" pitchFamily="34" charset="0"/>
              </a:rPr>
              <a:t>uses a different primary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1AF3B-70CD-5F47-2428-7B80043B02D8}"/>
              </a:ext>
            </a:extLst>
          </p:cNvPr>
          <p:cNvSpPr txBox="1"/>
          <p:nvPr/>
        </p:nvSpPr>
        <p:spPr>
          <a:xfrm>
            <a:off x="685800" y="3657600"/>
            <a:ext cx="406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42F30-9031-D1A6-FB61-79032EB60CB7}"/>
              </a:ext>
            </a:extLst>
          </p:cNvPr>
          <p:cNvSpPr txBox="1"/>
          <p:nvPr/>
        </p:nvSpPr>
        <p:spPr>
          <a:xfrm>
            <a:off x="1295400" y="3657600"/>
            <a:ext cx="546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171717"/>
                </a:solidFill>
                <a:latin typeface="Aptos" panose="020B0004020202020204" pitchFamily="34" charset="0"/>
              </a:rPr>
              <a:t>has automated a task you still do manually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562D1-065B-41E7-685D-7A922D013678}"/>
              </a:ext>
            </a:extLst>
          </p:cNvPr>
          <p:cNvSpPr txBox="1"/>
          <p:nvPr/>
        </p:nvSpPr>
        <p:spPr>
          <a:xfrm>
            <a:off x="685800" y="4445000"/>
            <a:ext cx="406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D8DF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1F4C3-059B-B6D3-641F-E463BA32115C}"/>
              </a:ext>
            </a:extLst>
          </p:cNvPr>
          <p:cNvSpPr txBox="1"/>
          <p:nvPr/>
        </p:nvSpPr>
        <p:spPr>
          <a:xfrm>
            <a:off x="1295400" y="4445000"/>
            <a:ext cx="5461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171717"/>
                </a:solidFill>
                <a:latin typeface="Aptos" panose="020B0004020202020204" pitchFamily="34" charset="0"/>
              </a:rPr>
              <a:t>learned something from an agent failure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6D93B-4AA2-9DB4-CBD2-F8D4ABE67237}"/>
              </a:ext>
            </a:extLst>
          </p:cNvPr>
          <p:cNvSpPr/>
          <p:nvPr/>
        </p:nvSpPr>
        <p:spPr>
          <a:xfrm>
            <a:off x="7747000" y="2032000"/>
            <a:ext cx="3606800" cy="3175000"/>
          </a:xfrm>
          <a:prstGeom prst="rect">
            <a:avLst/>
          </a:prstGeom>
          <a:solidFill>
            <a:srgbClr val="192B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5B714-0100-DDA8-9ADA-14781F3444DB}"/>
              </a:ext>
            </a:extLst>
          </p:cNvPr>
          <p:cNvSpPr txBox="1"/>
          <p:nvPr/>
        </p:nvSpPr>
        <p:spPr>
          <a:xfrm>
            <a:off x="8153400" y="24638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3D8DF4"/>
                </a:solidFill>
                <a:latin typeface="Aptos" panose="020B0004020202020204" pitchFamily="34" charset="0"/>
              </a:rPr>
              <a:t>SHARE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CBC5E-4E05-8C6F-175C-2D3E975CC3BA}"/>
              </a:ext>
            </a:extLst>
          </p:cNvPr>
          <p:cNvSpPr txBox="1"/>
          <p:nvPr/>
        </p:nvSpPr>
        <p:spPr>
          <a:xfrm>
            <a:off x="8153400" y="2984500"/>
            <a:ext cx="279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Aptos" panose="020B0004020202020204" pitchFamily="34" charset="0"/>
              </a:rPr>
              <a:t>one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D0D7C-9664-765A-46D7-F0D6C891EA5C}"/>
              </a:ext>
            </a:extLst>
          </p:cNvPr>
          <p:cNvSpPr txBox="1"/>
          <p:nvPr/>
        </p:nvSpPr>
        <p:spPr>
          <a:xfrm>
            <a:off x="8153400" y="36703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3D8DF4"/>
                </a:solidFill>
                <a:latin typeface="Aptos" panose="020B0004020202020204" pitchFamily="34" charset="0"/>
              </a:rPr>
              <a:t>ASK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3FD1C-EFA9-2123-1C2B-AEFB219D2639}"/>
              </a:ext>
            </a:extLst>
          </p:cNvPr>
          <p:cNvSpPr txBox="1"/>
          <p:nvPr/>
        </p:nvSpPr>
        <p:spPr>
          <a:xfrm>
            <a:off x="8153400" y="4191000"/>
            <a:ext cx="2794000" cy="7078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Aptos" panose="020B0004020202020204" pitchFamily="34" charset="0"/>
              </a:rPr>
              <a:t>one practical question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98857-2FF2-2A78-8A05-C0D6CE2B71D4}"/>
              </a:ext>
            </a:extLst>
          </p:cNvPr>
          <p:cNvSpPr txBox="1"/>
          <p:nvPr/>
        </p:nvSpPr>
        <p:spPr>
          <a:xfrm>
            <a:off x="685800" y="5803900"/>
            <a:ext cx="10668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192B44"/>
                </a:solidFill>
                <a:latin typeface="Aptos" panose="020B0004020202020204" pitchFamily="34" charset="0"/>
              </a:rPr>
              <a:t>Thank you for building the K-RAINES community.</a:t>
            </a:r>
          </a:p>
        </p:txBody>
      </p:sp>
    </p:spTree>
    <p:extLst>
      <p:ext uri="{BB962C8B-B14F-4D97-AF65-F5344CB8AC3E}">
        <p14:creationId xmlns:p14="http://schemas.microsoft.com/office/powerpoint/2010/main" val="362493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Widescreen</PresentationFormat>
  <Paragraphs>216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 Uk Heo</dc:creator>
  <cp:lastModifiedBy>Jin Uk Heo</cp:lastModifiedBy>
  <cp:revision>3</cp:revision>
  <dcterms:created xsi:type="dcterms:W3CDTF">2026-09-04T00:23:56Z</dcterms:created>
  <dcterms:modified xsi:type="dcterms:W3CDTF">2026-09-04T00:26:13Z</dcterms:modified>
</cp:coreProperties>
</file>